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10515600" cy="1097280"/>
          </a:xfrm>
          <a:prstGeom prst="rect">
            <a:avLst/>
          </a:prstGeom>
          <a:noFill/>
        </p:spPr>
        <p:txBody>
          <a:bodyPr wrap="square" anchor="t" lIns="50800" rIns="50800" tIns="25400" bIns="25400">
            <a:spAutoFit/>
          </a:bodyPr>
          <a:lstStyle/>
          <a:p>
            <a:pPr algn="l">
              <a:lnSpc>
                <a:spcPct val="100000"/>
              </a:lnSpc>
            </a:pPr>
            <a:r>
              <a:rPr sz="4000" b="1">
                <a:solidFill>
                  <a:srgbClr val="FFFFFF"/>
                </a:solidFill>
                <a:latin typeface="Calibri"/>
              </a:rPr>
              <a:t>navify POC Operations</a:t>
            </a:r>
          </a:p>
        </p:txBody>
      </p:sp>
      <p:sp>
        <p:nvSpPr>
          <p:cNvPr id="5" name="TextBox 4"/>
          <p:cNvSpPr txBox="1"/>
          <p:nvPr/>
        </p:nvSpPr>
        <p:spPr>
          <a:xfrm>
            <a:off x="822960" y="2788920"/>
            <a:ext cx="10515600" cy="914400"/>
          </a:xfrm>
          <a:prstGeom prst="rect">
            <a:avLst/>
          </a:prstGeom>
          <a:noFill/>
        </p:spPr>
        <p:txBody>
          <a:bodyPr wrap="square" anchor="t" lIns="50800" rIns="50800" tIns="25400" bIns="25400">
            <a:spAutoFit/>
          </a:bodyPr>
          <a:lstStyle/>
          <a:p>
            <a:pPr algn="l">
              <a:lnSpc>
                <a:spcPct val="100000"/>
              </a:lnSpc>
            </a:pPr>
            <a:r>
              <a:rPr sz="2600" b="1">
                <a:solidFill>
                  <a:srgbClr val="9FC0FF"/>
                </a:solidFill>
                <a:latin typeface="Calibri"/>
              </a:rPr>
              <a:t>PI 04 · 2026 — Feature Overview</a:t>
            </a:r>
          </a:p>
        </p:txBody>
      </p:sp>
      <p:sp>
        <p:nvSpPr>
          <p:cNvPr id="6" name="TextBox 5"/>
          <p:cNvSpPr txBox="1"/>
          <p:nvPr/>
        </p:nvSpPr>
        <p:spPr>
          <a:xfrm>
            <a:off x="822960" y="4114800"/>
            <a:ext cx="10515600" cy="914400"/>
          </a:xfrm>
          <a:prstGeom prst="rect">
            <a:avLst/>
          </a:prstGeom>
          <a:noFill/>
        </p:spPr>
        <p:txBody>
          <a:bodyPr wrap="square" anchor="t" lIns="50800" rIns="50800" tIns="25400" bIns="25400">
            <a:spAutoFit/>
          </a:bodyPr>
          <a:lstStyle/>
          <a:p>
            <a:pPr algn="l">
              <a:lnSpc>
                <a:spcPct val="100000"/>
              </a:lnSpc>
            </a:pPr>
            <a:r>
              <a:rPr sz="1500" b="0">
                <a:solidFill>
                  <a:srgbClr val="C9D6F0"/>
                </a:solidFill>
                <a:latin typeface="Calibri"/>
              </a:rPr>
              <a:t>Project NPOCO  ·  10 features  ·  What we will deliver this Program Increment</a:t>
            </a:r>
          </a:p>
        </p:txBody>
      </p:sp>
      <p:sp>
        <p:nvSpPr>
          <p:cNvPr id="7" name="TextBox 6"/>
          <p:cNvSpPr txBox="1"/>
          <p:nvPr/>
        </p:nvSpPr>
        <p:spPr>
          <a:xfrm>
            <a:off x="822960" y="6126480"/>
            <a:ext cx="10058400" cy="457200"/>
          </a:xfrm>
          <a:prstGeom prst="rect">
            <a:avLst/>
          </a:prstGeom>
          <a:noFill/>
        </p:spPr>
        <p:txBody>
          <a:bodyPr wrap="square" anchor="t" lIns="50800" rIns="50800" tIns="25400" bIns="25400">
            <a:spAutoFit/>
          </a:bodyPr>
          <a:lstStyle/>
          <a:p>
            <a:pPr algn="l">
              <a:lnSpc>
                <a:spcPct val="100000"/>
              </a:lnSpc>
            </a:pPr>
            <a:r>
              <a:rPr sz="1100" b="0">
                <a:solidFill>
                  <a:srgbClr val="7E8CB0"/>
                </a:solidFill>
                <a:latin typeface="Calibri"/>
              </a:rPr>
              <a:t>Source: Jira NPOCO (PI042026)  ·  Generated for planning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972800" cy="640080"/>
          </a:xfrm>
          <a:prstGeom prst="rect">
            <a:avLst/>
          </a:prstGeom>
          <a:noFill/>
        </p:spPr>
        <p:txBody>
          <a:bodyPr wrap="square" anchor="t" lIns="50800" rIns="50800" tIns="25400" bIns="25400">
            <a:spAutoFit/>
          </a:bodyPr>
          <a:lstStyle/>
          <a:p>
            <a:pPr algn="l">
              <a:lnSpc>
                <a:spcPct val="100000"/>
              </a:lnSpc>
            </a:pPr>
            <a:r>
              <a:rPr sz="2800" b="1">
                <a:solidFill>
                  <a:srgbClr val="FFFFFF"/>
                </a:solidFill>
                <a:latin typeface="Calibri"/>
              </a:rPr>
              <a:t>PI04 2026 at a glance</a:t>
            </a:r>
          </a:p>
        </p:txBody>
      </p:sp>
      <p:sp>
        <p:nvSpPr>
          <p:cNvPr id="4" name="Rectangle 3"/>
          <p:cNvSpPr/>
          <p:nvPr/>
        </p:nvSpPr>
        <p:spPr>
          <a:xfrm>
            <a:off x="548640" y="1371600"/>
            <a:ext cx="128016" cy="310896"/>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344168"/>
            <a:ext cx="5303520" cy="365760"/>
          </a:xfrm>
          <a:prstGeom prst="rect">
            <a:avLst/>
          </a:prstGeom>
          <a:noFill/>
        </p:spPr>
        <p:txBody>
          <a:bodyPr wrap="square" anchor="t" lIns="50800" rIns="50800" tIns="25400" bIns="25400">
            <a:spAutoFit/>
          </a:bodyPr>
          <a:lstStyle/>
          <a:p>
            <a:pPr algn="l">
              <a:lnSpc>
                <a:spcPct val="100000"/>
              </a:lnSpc>
            </a:pPr>
            <a:r>
              <a:rPr sz="1600" b="1">
                <a:solidFill>
                  <a:srgbClr val="1B1F27"/>
                </a:solidFill>
                <a:latin typeface="Calibri"/>
              </a:rPr>
              <a:t>QC Review</a:t>
            </a:r>
          </a:p>
        </p:txBody>
      </p:sp>
      <p:sp>
        <p:nvSpPr>
          <p:cNvPr id="6" name="TextBox 5"/>
          <p:cNvSpPr txBox="1"/>
          <p:nvPr/>
        </p:nvSpPr>
        <p:spPr>
          <a:xfrm>
            <a:off x="868680" y="1773936"/>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NPOCO-28357 — The system shall allow the user to Add a comment to a QC result</a:t>
            </a:r>
          </a:p>
        </p:txBody>
      </p:sp>
      <p:sp>
        <p:nvSpPr>
          <p:cNvPr id="7" name="TextBox 6"/>
          <p:cNvSpPr txBox="1"/>
          <p:nvPr/>
        </p:nvSpPr>
        <p:spPr>
          <a:xfrm>
            <a:off x="868680" y="2157984"/>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NPOCO-28341 — The system shall allow the user to export QC results</a:t>
            </a:r>
          </a:p>
        </p:txBody>
      </p:sp>
      <p:sp>
        <p:nvSpPr>
          <p:cNvPr id="8" name="TextBox 7"/>
          <p:cNvSpPr txBox="1"/>
          <p:nvPr/>
        </p:nvSpPr>
        <p:spPr>
          <a:xfrm>
            <a:off x="868680" y="2542032"/>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NPOCO-28351 — New result details view of a un-reviewed QC result</a:t>
            </a:r>
          </a:p>
        </p:txBody>
      </p:sp>
      <p:sp>
        <p:nvSpPr>
          <p:cNvPr id="9" name="TextBox 8"/>
          <p:cNvSpPr txBox="1"/>
          <p:nvPr/>
        </p:nvSpPr>
        <p:spPr>
          <a:xfrm>
            <a:off x="868680" y="2926080"/>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NPOCO-28348 — New result details view of a reviewed QC result</a:t>
            </a:r>
          </a:p>
        </p:txBody>
      </p:sp>
      <p:sp>
        <p:nvSpPr>
          <p:cNvPr id="10" name="TextBox 9"/>
          <p:cNvSpPr txBox="1"/>
          <p:nvPr/>
        </p:nvSpPr>
        <p:spPr>
          <a:xfrm>
            <a:off x="868680" y="3310128"/>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NPOCO-28353 — The system shall allow the user to add a comment for Proficiency results</a:t>
            </a:r>
          </a:p>
        </p:txBody>
      </p:sp>
      <p:sp>
        <p:nvSpPr>
          <p:cNvPr id="11" name="Rectangle 10"/>
          <p:cNvSpPr/>
          <p:nvPr/>
        </p:nvSpPr>
        <p:spPr>
          <a:xfrm>
            <a:off x="548640" y="3858768"/>
            <a:ext cx="128016" cy="31089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831336"/>
            <a:ext cx="5303520" cy="365760"/>
          </a:xfrm>
          <a:prstGeom prst="rect">
            <a:avLst/>
          </a:prstGeom>
          <a:noFill/>
        </p:spPr>
        <p:txBody>
          <a:bodyPr wrap="square" anchor="t" lIns="50800" rIns="50800" tIns="25400" bIns="25400">
            <a:spAutoFit/>
          </a:bodyPr>
          <a:lstStyle/>
          <a:p>
            <a:pPr algn="l">
              <a:lnSpc>
                <a:spcPct val="100000"/>
              </a:lnSpc>
            </a:pPr>
            <a:r>
              <a:rPr sz="1600" b="1">
                <a:solidFill>
                  <a:srgbClr val="1B1F27"/>
                </a:solidFill>
                <a:latin typeface="Calibri"/>
              </a:rPr>
              <a:t>System Alarms</a:t>
            </a:r>
          </a:p>
        </p:txBody>
      </p:sp>
      <p:sp>
        <p:nvSpPr>
          <p:cNvPr id="13" name="TextBox 12"/>
          <p:cNvSpPr txBox="1"/>
          <p:nvPr/>
        </p:nvSpPr>
        <p:spPr>
          <a:xfrm>
            <a:off x="868680" y="4261104"/>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NPOCO-27661 — Autorejection rule for QC results</a:t>
            </a:r>
          </a:p>
        </p:txBody>
      </p:sp>
      <p:sp>
        <p:nvSpPr>
          <p:cNvPr id="14" name="Rectangle 13"/>
          <p:cNvSpPr/>
          <p:nvPr/>
        </p:nvSpPr>
        <p:spPr>
          <a:xfrm>
            <a:off x="548640" y="4809744"/>
            <a:ext cx="128016" cy="3108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782312"/>
            <a:ext cx="5303520" cy="365760"/>
          </a:xfrm>
          <a:prstGeom prst="rect">
            <a:avLst/>
          </a:prstGeom>
          <a:noFill/>
        </p:spPr>
        <p:txBody>
          <a:bodyPr wrap="square" anchor="t" lIns="50800" rIns="50800" tIns="25400" bIns="25400">
            <a:spAutoFit/>
          </a:bodyPr>
          <a:lstStyle/>
          <a:p>
            <a:pPr algn="l">
              <a:lnSpc>
                <a:spcPct val="100000"/>
              </a:lnSpc>
            </a:pPr>
            <a:r>
              <a:rPr sz="1600" b="1">
                <a:solidFill>
                  <a:srgbClr val="1B1F27"/>
                </a:solidFill>
                <a:latin typeface="Calibri"/>
              </a:rPr>
              <a:t>Connectivity</a:t>
            </a:r>
          </a:p>
        </p:txBody>
      </p:sp>
      <p:sp>
        <p:nvSpPr>
          <p:cNvPr id="16" name="TextBox 15"/>
          <p:cNvSpPr txBox="1"/>
          <p:nvPr/>
        </p:nvSpPr>
        <p:spPr>
          <a:xfrm>
            <a:off x="868680" y="5212080"/>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NPOCO-26875 — Multi-System Connectivity Monitoring configuration</a:t>
            </a:r>
          </a:p>
        </p:txBody>
      </p:sp>
      <p:sp>
        <p:nvSpPr>
          <p:cNvPr id="17" name="Rectangle 16"/>
          <p:cNvSpPr/>
          <p:nvPr/>
        </p:nvSpPr>
        <p:spPr>
          <a:xfrm>
            <a:off x="6309360" y="1371600"/>
            <a:ext cx="128016" cy="310896"/>
          </a:xfrm>
          <a:prstGeom prst="rect">
            <a:avLst/>
          </a:prstGeom>
          <a:solidFill>
            <a:srgbClr val="1E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1344168"/>
            <a:ext cx="5303520" cy="365760"/>
          </a:xfrm>
          <a:prstGeom prst="rect">
            <a:avLst/>
          </a:prstGeom>
          <a:noFill/>
        </p:spPr>
        <p:txBody>
          <a:bodyPr wrap="square" anchor="t" lIns="50800" rIns="50800" tIns="25400" bIns="25400">
            <a:spAutoFit/>
          </a:bodyPr>
          <a:lstStyle/>
          <a:p>
            <a:pPr algn="l">
              <a:lnSpc>
                <a:spcPct val="100000"/>
              </a:lnSpc>
            </a:pPr>
            <a:r>
              <a:rPr sz="1600" b="1">
                <a:solidFill>
                  <a:srgbClr val="1B1F27"/>
                </a:solidFill>
                <a:latin typeface="Calibri"/>
              </a:rPr>
              <a:t>Material Mgmt</a:t>
            </a:r>
          </a:p>
        </p:txBody>
      </p:sp>
      <p:sp>
        <p:nvSpPr>
          <p:cNvPr id="19" name="TextBox 18"/>
          <p:cNvSpPr txBox="1"/>
          <p:nvPr/>
        </p:nvSpPr>
        <p:spPr>
          <a:xfrm>
            <a:off x="6629400" y="1773936"/>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NPOCO-28356 — POC evo transition - material module data sync</a:t>
            </a:r>
          </a:p>
        </p:txBody>
      </p:sp>
      <p:sp>
        <p:nvSpPr>
          <p:cNvPr id="20" name="Rectangle 19"/>
          <p:cNvSpPr/>
          <p:nvPr/>
        </p:nvSpPr>
        <p:spPr>
          <a:xfrm>
            <a:off x="6309360" y="2322576"/>
            <a:ext cx="128016" cy="31089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295144"/>
            <a:ext cx="5303520" cy="365760"/>
          </a:xfrm>
          <a:prstGeom prst="rect">
            <a:avLst/>
          </a:prstGeom>
          <a:noFill/>
        </p:spPr>
        <p:txBody>
          <a:bodyPr wrap="square" anchor="t" lIns="50800" rIns="50800" tIns="25400" bIns="25400">
            <a:spAutoFit/>
          </a:bodyPr>
          <a:lstStyle/>
          <a:p>
            <a:pPr algn="l">
              <a:lnSpc>
                <a:spcPct val="100000"/>
              </a:lnSpc>
            </a:pPr>
            <a:r>
              <a:rPr sz="1600" b="1">
                <a:solidFill>
                  <a:srgbClr val="1B1F27"/>
                </a:solidFill>
                <a:latin typeface="Calibri"/>
              </a:rPr>
              <a:t>User Assistance</a:t>
            </a:r>
          </a:p>
        </p:txBody>
      </p:sp>
      <p:sp>
        <p:nvSpPr>
          <p:cNvPr id="22" name="TextBox 21"/>
          <p:cNvSpPr txBox="1"/>
          <p:nvPr/>
        </p:nvSpPr>
        <p:spPr>
          <a:xfrm>
            <a:off x="6629400" y="2724912"/>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NPOCO-28327 — Enable deep-linking to specific documentation chapters within User Assistance</a:t>
            </a:r>
          </a:p>
        </p:txBody>
      </p:sp>
      <p:sp>
        <p:nvSpPr>
          <p:cNvPr id="23" name="Rectangle 22"/>
          <p:cNvSpPr/>
          <p:nvPr/>
        </p:nvSpPr>
        <p:spPr>
          <a:xfrm>
            <a:off x="6309360" y="3273552"/>
            <a:ext cx="128016" cy="310896"/>
          </a:xfrm>
          <a:prstGeom prst="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3246120"/>
            <a:ext cx="5303520" cy="365760"/>
          </a:xfrm>
          <a:prstGeom prst="rect">
            <a:avLst/>
          </a:prstGeom>
          <a:noFill/>
        </p:spPr>
        <p:txBody>
          <a:bodyPr wrap="square" anchor="t" lIns="50800" rIns="50800" tIns="25400" bIns="25400">
            <a:spAutoFit/>
          </a:bodyPr>
          <a:lstStyle/>
          <a:p>
            <a:pPr algn="l">
              <a:lnSpc>
                <a:spcPct val="100000"/>
              </a:lnSpc>
            </a:pPr>
            <a:r>
              <a:rPr sz="1600" b="1">
                <a:solidFill>
                  <a:srgbClr val="1B1F27"/>
                </a:solidFill>
                <a:latin typeface="Calibri"/>
              </a:rPr>
              <a:t>Licensing</a:t>
            </a:r>
          </a:p>
        </p:txBody>
      </p:sp>
      <p:sp>
        <p:nvSpPr>
          <p:cNvPr id="25" name="TextBox 24"/>
          <p:cNvSpPr txBox="1"/>
          <p:nvPr/>
        </p:nvSpPr>
        <p:spPr>
          <a:xfrm>
            <a:off x="6629400" y="3675888"/>
            <a:ext cx="5394960" cy="365760"/>
          </a:xfrm>
          <a:prstGeom prst="rect">
            <a:avLst/>
          </a:prstGeom>
          <a:noFill/>
        </p:spPr>
        <p:txBody>
          <a:bodyPr wrap="square" anchor="t" lIns="50800" rIns="50800" tIns="25400" bIns="25400">
            <a:spAutoFit/>
          </a:bodyPr>
          <a:lstStyle/>
          <a:p>
            <a:pPr algn="l">
              <a:lnSpc>
                <a:spcPct val="100000"/>
              </a:lnSpc>
            </a:pPr>
            <a:r>
              <a:rPr sz="1150" b="0">
                <a:solidFill>
                  <a:srgbClr val="5B6472"/>
                </a:solidFill>
                <a:latin typeface="Calibri"/>
              </a:rPr>
              <a:t>NPOCO-27663 — Passthrough enforcement</a:t>
            </a:r>
          </a:p>
        </p:txBody>
      </p:sp>
      <p:sp>
        <p:nvSpPr>
          <p:cNvPr id="26" name="Rectangle 25"/>
          <p:cNvSpPr/>
          <p:nvPr/>
        </p:nvSpPr>
        <p:spPr>
          <a:xfrm>
            <a:off x="548640" y="6309360"/>
            <a:ext cx="11064240" cy="18288"/>
          </a:xfrm>
          <a:prstGeom prst="rect">
            <a:avLst/>
          </a:prstGeom>
          <a:solidFill>
            <a:srgbClr val="E0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6355080"/>
            <a:ext cx="10972800" cy="365760"/>
          </a:xfrm>
          <a:prstGeom prst="rect">
            <a:avLst/>
          </a:prstGeom>
          <a:noFill/>
        </p:spPr>
        <p:txBody>
          <a:bodyPr wrap="square" anchor="t" lIns="50800" rIns="50800" tIns="25400" bIns="25400">
            <a:spAutoFit/>
          </a:bodyPr>
          <a:lstStyle/>
          <a:p>
            <a:pPr algn="l">
              <a:lnSpc>
                <a:spcPct val="100000"/>
              </a:lnSpc>
            </a:pPr>
            <a:r>
              <a:rPr sz="1100" b="0">
                <a:solidFill>
                  <a:srgbClr val="5B6472"/>
                </a:solidFill>
                <a:latin typeface="Calibri"/>
              </a:rPr>
              <a:t>10 features across 6 focus areas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QC REVIEW</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NPOCO-28357</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The system shall allow the user to Add a comment to a QC result</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The application should allow users to add comments to a QC result without having to accept or reject the result.</a:t>
            </a:r>
          </a:p>
        </p:txBody>
      </p:sp>
      <p:sp>
        <p:nvSpPr>
          <p:cNvPr id="11" name="TextBox 10"/>
          <p:cNvSpPr txBox="1"/>
          <p:nvPr/>
        </p:nvSpPr>
        <p:spPr>
          <a:xfrm>
            <a:off x="548640" y="3493008"/>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Why / Context</a:t>
            </a:r>
          </a:p>
        </p:txBody>
      </p:sp>
      <p:sp>
        <p:nvSpPr>
          <p:cNvPr id="12" name="TextBox 11"/>
          <p:cNvSpPr txBox="1"/>
          <p:nvPr/>
        </p:nvSpPr>
        <p:spPr>
          <a:xfrm>
            <a:off x="548640" y="3877056"/>
            <a:ext cx="5486400" cy="2011680"/>
          </a:xfrm>
          <a:prstGeom prst="rect">
            <a:avLst/>
          </a:prstGeom>
          <a:noFill/>
        </p:spPr>
        <p:txBody>
          <a:bodyPr wrap="square" anchor="t" lIns="50800" rIns="50800" tIns="25400" bIns="25400">
            <a:spAutoFit/>
          </a:bodyPr>
          <a:lstStyle/>
          <a:p>
            <a:pPr algn="l">
              <a:lnSpc>
                <a:spcPct val="105000"/>
              </a:lnSpc>
            </a:pPr>
            <a:r>
              <a:rPr sz="1250" b="0">
                <a:solidFill>
                  <a:srgbClr val="5B6472"/>
                </a:solidFill>
                <a:latin typeface="Calibri"/>
              </a:rPr>
              <a:t>A new Comment button should be available on the QC result details screen.</a:t>
            </a:r>
          </a:p>
          <a:p>
            <a:pPr algn="l">
              <a:lnSpc>
                <a:spcPct val="105000"/>
              </a:lnSpc>
            </a:pPr>
            <a:r>
              <a:rPr sz="1250" b="0">
                <a:solidFill>
                  <a:srgbClr val="5B6472"/>
                </a:solidFill>
                <a:latin typeface="Calibri"/>
              </a:rPr>
              <a:t>Users who can view the screen can add comments.</a:t>
            </a:r>
          </a:p>
          <a:p>
            <a:pPr algn="l">
              <a:lnSpc>
                <a:spcPct val="105000"/>
              </a:lnSpc>
            </a:pPr>
            <a:r>
              <a:rPr sz="1250" b="0">
                <a:solidFill>
                  <a:srgbClr val="5B6472"/>
                </a:solidFill>
                <a:latin typeface="Calibri"/>
              </a:rPr>
              <a:t>Comments should be treated as the same type as predefined comments in the database.</a:t>
            </a:r>
          </a:p>
          <a:p>
            <a:pPr algn="l">
              <a:lnSpc>
                <a:spcPct val="105000"/>
              </a:lnSpc>
            </a:pPr>
            <a:r>
              <a:rPr sz="1250" b="0">
                <a:solidFill>
                  <a:srgbClr val="5B6472"/>
                </a:solidFill>
                <a:latin typeface="Calibri"/>
              </a:rPr>
              <a:t>They should also be included in the export.</a:t>
            </a:r>
          </a:p>
        </p:txBody>
      </p:sp>
      <p:sp>
        <p:nvSpPr>
          <p:cNvPr id="13" name="Rectangle 12"/>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109728" cy="475488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6" name="TextBox 15"/>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7" name="TextBox 16"/>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QC result details screen has a Comment button.</a:t>
            </a:r>
          </a:p>
        </p:txBody>
      </p:sp>
      <p:sp>
        <p:nvSpPr>
          <p:cNvPr id="18" name="TextBox 17"/>
          <p:cNvSpPr txBox="1"/>
          <p:nvPr/>
        </p:nvSpPr>
        <p:spPr>
          <a:xfrm>
            <a:off x="6629400" y="2871216"/>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9" name="TextBox 18"/>
          <p:cNvSpPr txBox="1"/>
          <p:nvPr/>
        </p:nvSpPr>
        <p:spPr>
          <a:xfrm>
            <a:off x="6949440" y="287121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user can add a comment to a result without accepting or rejecting it.</a:t>
            </a:r>
          </a:p>
        </p:txBody>
      </p:sp>
      <p:sp>
        <p:nvSpPr>
          <p:cNvPr id="20" name="TextBox 19"/>
          <p:cNvSpPr txBox="1"/>
          <p:nvPr/>
        </p:nvSpPr>
        <p:spPr>
          <a:xfrm>
            <a:off x="6629400" y="3547872"/>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1" name="TextBox 20"/>
          <p:cNvSpPr txBox="1"/>
          <p:nvPr/>
        </p:nvSpPr>
        <p:spPr>
          <a:xfrm>
            <a:off x="6949440" y="354787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comment field length is the same as a predefined comment.</a:t>
            </a:r>
          </a:p>
        </p:txBody>
      </p:sp>
      <p:sp>
        <p:nvSpPr>
          <p:cNvPr id="22" name="TextBox 21"/>
          <p:cNvSpPr txBox="1"/>
          <p:nvPr/>
        </p:nvSpPr>
        <p:spPr>
          <a:xfrm>
            <a:off x="6629400" y="4224528"/>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3" name="TextBox 22"/>
          <p:cNvSpPr txBox="1"/>
          <p:nvPr/>
        </p:nvSpPr>
        <p:spPr>
          <a:xfrm>
            <a:off x="6949440" y="4224528"/>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A result that has already been accepted or rejected can still have a comment added.</a:t>
            </a:r>
          </a:p>
        </p:txBody>
      </p:sp>
      <p:sp>
        <p:nvSpPr>
          <p:cNvPr id="24" name="TextBox 23"/>
          <p:cNvSpPr txBox="1"/>
          <p:nvPr/>
        </p:nvSpPr>
        <p:spPr>
          <a:xfrm>
            <a:off x="6629400" y="4901184"/>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5" name="TextBox 24"/>
          <p:cNvSpPr txBox="1"/>
          <p:nvPr/>
        </p:nvSpPr>
        <p:spPr>
          <a:xfrm>
            <a:off x="6949440" y="4901184"/>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Multiple comments can be added to a result.</a:t>
            </a:r>
          </a:p>
        </p:txBody>
      </p:sp>
      <p:sp>
        <p:nvSpPr>
          <p:cNvPr id="26" name="TextBox 25"/>
          <p:cNvSpPr txBox="1"/>
          <p:nvPr/>
        </p:nvSpPr>
        <p:spPr>
          <a:xfrm>
            <a:off x="6629400" y="5266944"/>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7" name="TextBox 26"/>
          <p:cNvSpPr txBox="1"/>
          <p:nvPr/>
        </p:nvSpPr>
        <p:spPr>
          <a:xfrm>
            <a:off x="6949440" y="5266944"/>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Comments are displayed in the order they were created, with the newest on top.</a:t>
            </a:r>
          </a:p>
        </p:txBody>
      </p:sp>
      <p:sp>
        <p:nvSpPr>
          <p:cNvPr id="28" name="TextBox 27"/>
          <p:cNvSpPr txBox="1"/>
          <p:nvPr/>
        </p:nvSpPr>
        <p:spPr>
          <a:xfrm>
            <a:off x="6629400" y="594360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9" name="TextBox 28"/>
          <p:cNvSpPr txBox="1"/>
          <p:nvPr/>
        </p:nvSpPr>
        <p:spPr>
          <a:xfrm>
            <a:off x="6949440" y="594360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user can save a comment as predefined and use it again later.</a:t>
            </a:r>
          </a:p>
        </p:txBody>
      </p:sp>
      <p:sp>
        <p:nvSpPr>
          <p:cNvPr id="30" name="TextBox 29"/>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31" name="TextBox 30"/>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1/10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QC REVIEW</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NPOCO-28341</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The system shall allow the user to export QC results</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The system shall allow the user to export QC results.</a:t>
            </a:r>
          </a:p>
        </p:txBody>
      </p:sp>
      <p:sp>
        <p:nvSpPr>
          <p:cNvPr id="11" name="TextBox 10"/>
          <p:cNvSpPr txBox="1"/>
          <p:nvPr/>
        </p:nvSpPr>
        <p:spPr>
          <a:xfrm>
            <a:off x="548640" y="3493008"/>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Why / Context</a:t>
            </a:r>
          </a:p>
        </p:txBody>
      </p:sp>
      <p:sp>
        <p:nvSpPr>
          <p:cNvPr id="12" name="TextBox 11"/>
          <p:cNvSpPr txBox="1"/>
          <p:nvPr/>
        </p:nvSpPr>
        <p:spPr>
          <a:xfrm>
            <a:off x="548640" y="3877056"/>
            <a:ext cx="5486400" cy="2011680"/>
          </a:xfrm>
          <a:prstGeom prst="rect">
            <a:avLst/>
          </a:prstGeom>
          <a:noFill/>
        </p:spPr>
        <p:txBody>
          <a:bodyPr wrap="square" anchor="t" lIns="50800" rIns="50800" tIns="25400" bIns="25400">
            <a:spAutoFit/>
          </a:bodyPr>
          <a:lstStyle/>
          <a:p>
            <a:pPr algn="l">
              <a:lnSpc>
                <a:spcPct val="105000"/>
              </a:lnSpc>
            </a:pPr>
            <a:r>
              <a:rPr sz="1250" b="0">
                <a:solidFill>
                  <a:srgbClr val="5B6472"/>
                </a:solidFill>
                <a:latin typeface="Calibri"/>
              </a:rPr>
              <a:t>Export functionality is needed for QC results.</a:t>
            </a:r>
          </a:p>
        </p:txBody>
      </p:sp>
      <p:sp>
        <p:nvSpPr>
          <p:cNvPr id="13" name="Rectangle 12"/>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109728" cy="475488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6" name="TextBox 15"/>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7" name="TextBox 16"/>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system shall allow export of:</a:t>
            </a:r>
          </a:p>
        </p:txBody>
      </p:sp>
      <p:sp>
        <p:nvSpPr>
          <p:cNvPr id="18" name="TextBox 17"/>
          <p:cNvSpPr txBox="1"/>
          <p:nvPr/>
        </p:nvSpPr>
        <p:spPr>
          <a:xfrm>
            <a:off x="6629400" y="256032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9" name="TextBox 18"/>
          <p:cNvSpPr txBox="1"/>
          <p:nvPr/>
        </p:nvSpPr>
        <p:spPr>
          <a:xfrm>
            <a:off x="6949440" y="256032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Unreviewed QC results</a:t>
            </a:r>
          </a:p>
        </p:txBody>
      </p:sp>
      <p:sp>
        <p:nvSpPr>
          <p:cNvPr id="20" name="TextBox 19"/>
          <p:cNvSpPr txBox="1"/>
          <p:nvPr/>
        </p:nvSpPr>
        <p:spPr>
          <a:xfrm>
            <a:off x="6629400" y="292608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1" name="TextBox 20"/>
          <p:cNvSpPr txBox="1"/>
          <p:nvPr/>
        </p:nvSpPr>
        <p:spPr>
          <a:xfrm>
            <a:off x="6949440" y="292608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All QC results</a:t>
            </a:r>
          </a:p>
        </p:txBody>
      </p:sp>
      <p:sp>
        <p:nvSpPr>
          <p:cNvPr id="22" name="TextBox 21"/>
          <p:cNvSpPr txBox="1"/>
          <p:nvPr/>
        </p:nvSpPr>
        <p:spPr>
          <a:xfrm>
            <a:off x="6629400" y="329184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3" name="TextBox 22"/>
          <p:cNvSpPr txBox="1"/>
          <p:nvPr/>
        </p:nvSpPr>
        <p:spPr>
          <a:xfrm>
            <a:off x="6949440" y="329184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Select specific QC results</a:t>
            </a:r>
          </a:p>
        </p:txBody>
      </p:sp>
      <p:sp>
        <p:nvSpPr>
          <p:cNvPr id="24" name="TextBox 23"/>
          <p:cNvSpPr txBox="1"/>
          <p:nvPr/>
        </p:nvSpPr>
        <p:spPr>
          <a:xfrm>
            <a:off x="6629400" y="365760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5" name="TextBox 24"/>
          <p:cNvSpPr txBox="1"/>
          <p:nvPr/>
        </p:nvSpPr>
        <p:spPr>
          <a:xfrm>
            <a:off x="6949440" y="365760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An export button shall be available.</a:t>
            </a:r>
          </a:p>
        </p:txBody>
      </p:sp>
      <p:sp>
        <p:nvSpPr>
          <p:cNvPr id="26" name="TextBox 25"/>
          <p:cNvSpPr txBox="1"/>
          <p:nvPr/>
        </p:nvSpPr>
        <p:spPr>
          <a:xfrm>
            <a:off x="6629400" y="402336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7" name="TextBox 26"/>
          <p:cNvSpPr txBox="1"/>
          <p:nvPr/>
        </p:nvSpPr>
        <p:spPr>
          <a:xfrm>
            <a:off x="6949440" y="40233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A popup shall allow the user to enter the number of records.</a:t>
            </a:r>
          </a:p>
        </p:txBody>
      </p:sp>
      <p:sp>
        <p:nvSpPr>
          <p:cNvPr id="28" name="TextBox 27"/>
          <p:cNvSpPr txBox="1"/>
          <p:nvPr/>
        </p:nvSpPr>
        <p:spPr>
          <a:xfrm>
            <a:off x="6629400" y="4700016"/>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9" name="TextBox 28"/>
          <p:cNvSpPr txBox="1"/>
          <p:nvPr/>
        </p:nvSpPr>
        <p:spPr>
          <a:xfrm>
            <a:off x="6949440" y="470001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default value for the number of records shall be 5000.</a:t>
            </a:r>
          </a:p>
        </p:txBody>
      </p:sp>
      <p:sp>
        <p:nvSpPr>
          <p:cNvPr id="30" name="TextBox 29"/>
          <p:cNvSpPr txBox="1"/>
          <p:nvPr/>
        </p:nvSpPr>
        <p:spPr>
          <a:xfrm>
            <a:off x="6629400" y="5376672"/>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31" name="TextBox 30"/>
          <p:cNvSpPr txBox="1"/>
          <p:nvPr/>
        </p:nvSpPr>
        <p:spPr>
          <a:xfrm>
            <a:off x="6949440" y="537667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export shall be available as CSV only.</a:t>
            </a:r>
          </a:p>
        </p:txBody>
      </p:sp>
      <p:sp>
        <p:nvSpPr>
          <p:cNvPr id="32" name="TextBox 31"/>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33" name="TextBox 32"/>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2/10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QC REVIEW</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NPOCO-28351</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New result details view of a un-reviewed QC result</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The system shall provide the result-related details of a un-reviewed QC result in a proper UI view.</a:t>
            </a:r>
          </a:p>
        </p:txBody>
      </p:sp>
      <p:sp>
        <p:nvSpPr>
          <p:cNvPr id="11" name="TextBox 10"/>
          <p:cNvSpPr txBox="1"/>
          <p:nvPr/>
        </p:nvSpPr>
        <p:spPr>
          <a:xfrm>
            <a:off x="548640" y="3493008"/>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Why / Context</a:t>
            </a:r>
          </a:p>
        </p:txBody>
      </p:sp>
      <p:sp>
        <p:nvSpPr>
          <p:cNvPr id="12" name="TextBox 11"/>
          <p:cNvSpPr txBox="1"/>
          <p:nvPr/>
        </p:nvSpPr>
        <p:spPr>
          <a:xfrm>
            <a:off x="548640" y="3877056"/>
            <a:ext cx="5486400" cy="2011680"/>
          </a:xfrm>
          <a:prstGeom prst="rect">
            <a:avLst/>
          </a:prstGeom>
          <a:noFill/>
        </p:spPr>
        <p:txBody>
          <a:bodyPr wrap="square" anchor="t" lIns="50800" rIns="50800" tIns="25400" bIns="25400">
            <a:spAutoFit/>
          </a:bodyPr>
          <a:lstStyle/>
          <a:p>
            <a:pPr algn="l">
              <a:lnSpc>
                <a:spcPct val="105000"/>
              </a:lnSpc>
            </a:pPr>
            <a:r>
              <a:rPr sz="1250" b="0">
                <a:solidFill>
                  <a:srgbClr val="5B6472"/>
                </a:solidFill>
                <a:latin typeface="Calibri"/>
              </a:rPr>
              <a:t>This is to make the reviewed QC result details more intuitive for the user.</a:t>
            </a:r>
          </a:p>
        </p:txBody>
      </p:sp>
      <p:sp>
        <p:nvSpPr>
          <p:cNvPr id="13" name="Rectangle 12"/>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109728" cy="475488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6" name="TextBox 15"/>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7" name="TextBox 16"/>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Display all information related to a reviewed QC result.</a:t>
            </a:r>
          </a:p>
        </p:txBody>
      </p:sp>
      <p:sp>
        <p:nvSpPr>
          <p:cNvPr id="18" name="TextBox 17"/>
          <p:cNvSpPr txBox="1"/>
          <p:nvPr/>
        </p:nvSpPr>
        <p:spPr>
          <a:xfrm>
            <a:off x="6629400" y="2871216"/>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9" name="TextBox 18"/>
          <p:cNvSpPr txBox="1"/>
          <p:nvPr/>
        </p:nvSpPr>
        <p:spPr>
          <a:xfrm>
            <a:off x="6949440" y="287121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Show the information in the proper UI view.</a:t>
            </a:r>
          </a:p>
        </p:txBody>
      </p:sp>
      <p:sp>
        <p:nvSpPr>
          <p:cNvPr id="20" name="TextBox 19"/>
          <p:cNvSpPr txBox="1"/>
          <p:nvPr/>
        </p:nvSpPr>
        <p:spPr>
          <a:xfrm>
            <a:off x="6629400" y="3236976"/>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1" name="TextBox 20"/>
          <p:cNvSpPr txBox="1"/>
          <p:nvPr/>
        </p:nvSpPr>
        <p:spPr>
          <a:xfrm>
            <a:off x="6949440" y="323697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Make the view more intuitive for the user.</a:t>
            </a:r>
          </a:p>
        </p:txBody>
      </p:sp>
      <p:sp>
        <p:nvSpPr>
          <p:cNvPr id="22" name="TextBox 21"/>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23" name="TextBox 22"/>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3/10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QC REVIEW</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NPOCO-28348</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New result details view of a reviewed QC result</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The system shall provide the result-related details of a reviewed QC result in a proper UI view.</a:t>
            </a:r>
          </a:p>
        </p:txBody>
      </p:sp>
      <p:sp>
        <p:nvSpPr>
          <p:cNvPr id="11" name="TextBox 10"/>
          <p:cNvSpPr txBox="1"/>
          <p:nvPr/>
        </p:nvSpPr>
        <p:spPr>
          <a:xfrm>
            <a:off x="548640" y="3493008"/>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Why / Context</a:t>
            </a:r>
          </a:p>
        </p:txBody>
      </p:sp>
      <p:sp>
        <p:nvSpPr>
          <p:cNvPr id="12" name="TextBox 11"/>
          <p:cNvSpPr txBox="1"/>
          <p:nvPr/>
        </p:nvSpPr>
        <p:spPr>
          <a:xfrm>
            <a:off x="548640" y="3877056"/>
            <a:ext cx="5486400" cy="2011680"/>
          </a:xfrm>
          <a:prstGeom prst="rect">
            <a:avLst/>
          </a:prstGeom>
          <a:noFill/>
        </p:spPr>
        <p:txBody>
          <a:bodyPr wrap="square" anchor="t" lIns="50800" rIns="50800" tIns="25400" bIns="25400">
            <a:spAutoFit/>
          </a:bodyPr>
          <a:lstStyle/>
          <a:p>
            <a:pPr algn="l">
              <a:lnSpc>
                <a:spcPct val="105000"/>
              </a:lnSpc>
            </a:pPr>
            <a:r>
              <a:rPr sz="1250" b="0">
                <a:solidFill>
                  <a:srgbClr val="5B6472"/>
                </a:solidFill>
                <a:latin typeface="Calibri"/>
              </a:rPr>
              <a:t>This is to make the reviewed QC result details more intuitive for the user.</a:t>
            </a:r>
          </a:p>
        </p:txBody>
      </p:sp>
      <p:sp>
        <p:nvSpPr>
          <p:cNvPr id="13" name="Rectangle 12"/>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109728" cy="475488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6" name="TextBox 15"/>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7" name="TextBox 16"/>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Display all information related to a reviewed QC result.</a:t>
            </a:r>
          </a:p>
        </p:txBody>
      </p:sp>
      <p:sp>
        <p:nvSpPr>
          <p:cNvPr id="18" name="TextBox 17"/>
          <p:cNvSpPr txBox="1"/>
          <p:nvPr/>
        </p:nvSpPr>
        <p:spPr>
          <a:xfrm>
            <a:off x="6629400" y="2871216"/>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9" name="TextBox 18"/>
          <p:cNvSpPr txBox="1"/>
          <p:nvPr/>
        </p:nvSpPr>
        <p:spPr>
          <a:xfrm>
            <a:off x="6949440" y="287121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Show the information in the proper UI view.</a:t>
            </a:r>
          </a:p>
        </p:txBody>
      </p:sp>
      <p:sp>
        <p:nvSpPr>
          <p:cNvPr id="20" name="TextBox 19"/>
          <p:cNvSpPr txBox="1"/>
          <p:nvPr/>
        </p:nvSpPr>
        <p:spPr>
          <a:xfrm>
            <a:off x="6629400" y="3236976"/>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1" name="TextBox 20"/>
          <p:cNvSpPr txBox="1"/>
          <p:nvPr/>
        </p:nvSpPr>
        <p:spPr>
          <a:xfrm>
            <a:off x="6949440" y="323697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Make the view more intuitive for the user.</a:t>
            </a:r>
          </a:p>
        </p:txBody>
      </p:sp>
      <p:sp>
        <p:nvSpPr>
          <p:cNvPr id="22" name="TextBox 21"/>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23" name="TextBox 22"/>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4/10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QC REVIEW</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NPOCO-28353</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The system shall allow the user to add a comment for Proficiency results</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The system shall allow the user to add a comment for Proficiency results.</a:t>
            </a:r>
          </a:p>
        </p:txBody>
      </p:sp>
      <p:sp>
        <p:nvSpPr>
          <p:cNvPr id="11" name="TextBox 10"/>
          <p:cNvSpPr txBox="1"/>
          <p:nvPr/>
        </p:nvSpPr>
        <p:spPr>
          <a:xfrm>
            <a:off x="548640" y="3493008"/>
            <a:ext cx="5486400" cy="320040"/>
          </a:xfrm>
          <a:prstGeom prst="rect">
            <a:avLst/>
          </a:prstGeom>
          <a:noFill/>
        </p:spPr>
        <p:txBody>
          <a:bodyPr wrap="square" anchor="t" lIns="50800" rIns="50800" tIns="25400" bIns="25400">
            <a:spAutoFit/>
          </a:bodyPr>
          <a:lstStyle/>
          <a:p>
            <a:pPr algn="l">
              <a:lnSpc>
                <a:spcPct val="100000"/>
              </a:lnSpc>
            </a:pPr>
            <a:r>
              <a:rPr sz="1500" b="1">
                <a:solidFill>
                  <a:srgbClr val="0B5CFF"/>
                </a:solidFill>
                <a:latin typeface="Calibri"/>
              </a:rPr>
              <a:t>Why / Context</a:t>
            </a:r>
          </a:p>
        </p:txBody>
      </p:sp>
      <p:sp>
        <p:nvSpPr>
          <p:cNvPr id="12" name="TextBox 11"/>
          <p:cNvSpPr txBox="1"/>
          <p:nvPr/>
        </p:nvSpPr>
        <p:spPr>
          <a:xfrm>
            <a:off x="548640" y="3877056"/>
            <a:ext cx="5486400" cy="2011680"/>
          </a:xfrm>
          <a:prstGeom prst="rect">
            <a:avLst/>
          </a:prstGeom>
          <a:noFill/>
        </p:spPr>
        <p:txBody>
          <a:bodyPr wrap="square" anchor="t" lIns="50800" rIns="50800" tIns="25400" bIns="25400">
            <a:spAutoFit/>
          </a:bodyPr>
          <a:lstStyle/>
          <a:p>
            <a:pPr algn="l">
              <a:lnSpc>
                <a:spcPct val="105000"/>
              </a:lnSpc>
            </a:pPr>
            <a:r>
              <a:rPr sz="1250" b="0">
                <a:solidFill>
                  <a:srgbClr val="5B6472"/>
                </a:solidFill>
                <a:latin typeface="Calibri"/>
              </a:rPr>
              <a:t>The user needs to add comments for Proficiency results.</a:t>
            </a:r>
          </a:p>
        </p:txBody>
      </p:sp>
      <p:sp>
        <p:nvSpPr>
          <p:cNvPr id="13" name="Rectangle 12"/>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109728" cy="475488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6" name="TextBox 15"/>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7" name="TextBox 16"/>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system shall allow the user to add a comment for Proficiency results with the following information:</a:t>
            </a:r>
          </a:p>
        </p:txBody>
      </p:sp>
      <p:sp>
        <p:nvSpPr>
          <p:cNvPr id="18" name="TextBox 17"/>
          <p:cNvSpPr txBox="1"/>
          <p:nvPr/>
        </p:nvSpPr>
        <p:spPr>
          <a:xfrm>
            <a:off x="6629400" y="3182112"/>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19" name="TextBox 18"/>
          <p:cNvSpPr txBox="1"/>
          <p:nvPr/>
        </p:nvSpPr>
        <p:spPr>
          <a:xfrm>
            <a:off x="6949440" y="318211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List of selected proficiency results</a:t>
            </a:r>
          </a:p>
        </p:txBody>
      </p:sp>
      <p:sp>
        <p:nvSpPr>
          <p:cNvPr id="20" name="TextBox 19"/>
          <p:cNvSpPr txBox="1"/>
          <p:nvPr/>
        </p:nvSpPr>
        <p:spPr>
          <a:xfrm>
            <a:off x="6629400" y="3547872"/>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1" name="TextBox 20"/>
          <p:cNvSpPr txBox="1"/>
          <p:nvPr/>
        </p:nvSpPr>
        <p:spPr>
          <a:xfrm>
            <a:off x="6949440" y="354787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Comment</a:t>
            </a:r>
          </a:p>
        </p:txBody>
      </p:sp>
      <p:sp>
        <p:nvSpPr>
          <p:cNvPr id="22" name="TextBox 21"/>
          <p:cNvSpPr txBox="1"/>
          <p:nvPr/>
        </p:nvSpPr>
        <p:spPr>
          <a:xfrm>
            <a:off x="6629400" y="3913632"/>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3" name="TextBox 22"/>
          <p:cNvSpPr txBox="1"/>
          <p:nvPr/>
        </p:nvSpPr>
        <p:spPr>
          <a:xfrm>
            <a:off x="6949440" y="391363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system shall allow the user to add comments multiple times.</a:t>
            </a:r>
          </a:p>
        </p:txBody>
      </p:sp>
      <p:sp>
        <p:nvSpPr>
          <p:cNvPr id="24" name="TextBox 23"/>
          <p:cNvSpPr txBox="1"/>
          <p:nvPr/>
        </p:nvSpPr>
        <p:spPr>
          <a:xfrm>
            <a:off x="6629400" y="4590288"/>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5" name="TextBox 24"/>
          <p:cNvSpPr txBox="1"/>
          <p:nvPr/>
        </p:nvSpPr>
        <p:spPr>
          <a:xfrm>
            <a:off x="6949440" y="4590288"/>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system shall allow the user to edit any comment.</a:t>
            </a:r>
          </a:p>
        </p:txBody>
      </p:sp>
      <p:sp>
        <p:nvSpPr>
          <p:cNvPr id="26" name="TextBox 25"/>
          <p:cNvSpPr txBox="1"/>
          <p:nvPr/>
        </p:nvSpPr>
        <p:spPr>
          <a:xfrm>
            <a:off x="6629400" y="5266944"/>
            <a:ext cx="274320" cy="365760"/>
          </a:xfrm>
          <a:prstGeom prst="rect">
            <a:avLst/>
          </a:prstGeom>
          <a:noFill/>
        </p:spPr>
        <p:txBody>
          <a:bodyPr wrap="square" anchor="t" lIns="50800" rIns="50800" tIns="25400" bIns="25400">
            <a:spAutoFit/>
          </a:bodyPr>
          <a:lstStyle/>
          <a:p>
            <a:pPr algn="l">
              <a:lnSpc>
                <a:spcPct val="100000"/>
              </a:lnSpc>
            </a:pPr>
            <a:r>
              <a:rPr sz="1200" b="1">
                <a:solidFill>
                  <a:srgbClr val="0B5CFF"/>
                </a:solidFill>
                <a:latin typeface="Calibri"/>
              </a:rPr>
              <a:t>▪</a:t>
            </a:r>
          </a:p>
        </p:txBody>
      </p:sp>
      <p:sp>
        <p:nvSpPr>
          <p:cNvPr id="27" name="TextBox 26"/>
          <p:cNvSpPr txBox="1"/>
          <p:nvPr/>
        </p:nvSpPr>
        <p:spPr>
          <a:xfrm>
            <a:off x="6949440" y="5266944"/>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system shall allow the user to delete any comment.</a:t>
            </a:r>
          </a:p>
        </p:txBody>
      </p:sp>
      <p:sp>
        <p:nvSpPr>
          <p:cNvPr id="28" name="TextBox 27"/>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29" name="TextBox 28"/>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5/10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SYSTEM ALARMS</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NPOCO-27661</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Autorejection rule for QC results</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E5484D"/>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Allow the user to select a new alarm type called auto-rejected for certain alarm types. This new type will automatically reject the QC result.</a:t>
            </a:r>
          </a:p>
        </p:txBody>
      </p:sp>
      <p:sp>
        <p:nvSpPr>
          <p:cNvPr id="11" name="TextBox 10"/>
          <p:cNvSpPr txBox="1"/>
          <p:nvPr/>
        </p:nvSpPr>
        <p:spPr>
          <a:xfrm>
            <a:off x="548640" y="3493008"/>
            <a:ext cx="5486400" cy="320040"/>
          </a:xfrm>
          <a:prstGeom prst="rect">
            <a:avLst/>
          </a:prstGeom>
          <a:noFill/>
        </p:spPr>
        <p:txBody>
          <a:bodyPr wrap="square" anchor="t" lIns="50800" rIns="50800" tIns="25400" bIns="25400">
            <a:spAutoFit/>
          </a:bodyPr>
          <a:lstStyle/>
          <a:p>
            <a:pPr algn="l">
              <a:lnSpc>
                <a:spcPct val="100000"/>
              </a:lnSpc>
            </a:pPr>
            <a:r>
              <a:rPr sz="1500" b="1">
                <a:solidFill>
                  <a:srgbClr val="E5484D"/>
                </a:solidFill>
                <a:latin typeface="Calibri"/>
              </a:rPr>
              <a:t>Why / Context</a:t>
            </a:r>
          </a:p>
        </p:txBody>
      </p:sp>
      <p:sp>
        <p:nvSpPr>
          <p:cNvPr id="12" name="TextBox 11"/>
          <p:cNvSpPr txBox="1"/>
          <p:nvPr/>
        </p:nvSpPr>
        <p:spPr>
          <a:xfrm>
            <a:off x="548640" y="3877056"/>
            <a:ext cx="5486400" cy="2011680"/>
          </a:xfrm>
          <a:prstGeom prst="rect">
            <a:avLst/>
          </a:prstGeom>
          <a:noFill/>
        </p:spPr>
        <p:txBody>
          <a:bodyPr wrap="square" anchor="t" lIns="50800" rIns="50800" tIns="25400" bIns="25400">
            <a:spAutoFit/>
          </a:bodyPr>
          <a:lstStyle/>
          <a:p>
            <a:pPr algn="l">
              <a:lnSpc>
                <a:spcPct val="105000"/>
              </a:lnSpc>
            </a:pPr>
            <a:r>
              <a:rPr sz="1250" b="0">
                <a:solidFill>
                  <a:srgbClr val="5B6472"/>
                </a:solidFill>
                <a:latin typeface="Calibri"/>
              </a:rPr>
              <a:t>The current request is to add a new alarm type for QC results. It should be available depending on the alarm type selected by the user.</a:t>
            </a:r>
          </a:p>
        </p:txBody>
      </p:sp>
      <p:sp>
        <p:nvSpPr>
          <p:cNvPr id="13" name="Rectangle 12"/>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109728" cy="475488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6" name="TextBox 15"/>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E5484D"/>
                </a:solidFill>
                <a:latin typeface="Calibri"/>
              </a:rPr>
              <a:t>▪</a:t>
            </a:r>
          </a:p>
        </p:txBody>
      </p:sp>
      <p:sp>
        <p:nvSpPr>
          <p:cNvPr id="17" name="TextBox 16"/>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user can select a new alarm type called auto-rejected.</a:t>
            </a:r>
          </a:p>
        </p:txBody>
      </p:sp>
      <p:sp>
        <p:nvSpPr>
          <p:cNvPr id="18" name="TextBox 17"/>
          <p:cNvSpPr txBox="1"/>
          <p:nvPr/>
        </p:nvSpPr>
        <p:spPr>
          <a:xfrm>
            <a:off x="6629400" y="2871216"/>
            <a:ext cx="274320" cy="365760"/>
          </a:xfrm>
          <a:prstGeom prst="rect">
            <a:avLst/>
          </a:prstGeom>
          <a:noFill/>
        </p:spPr>
        <p:txBody>
          <a:bodyPr wrap="square" anchor="t" lIns="50800" rIns="50800" tIns="25400" bIns="25400">
            <a:spAutoFit/>
          </a:bodyPr>
          <a:lstStyle/>
          <a:p>
            <a:pPr algn="l">
              <a:lnSpc>
                <a:spcPct val="100000"/>
              </a:lnSpc>
            </a:pPr>
            <a:r>
              <a:rPr sz="1200" b="1">
                <a:solidFill>
                  <a:srgbClr val="E5484D"/>
                </a:solidFill>
                <a:latin typeface="Calibri"/>
              </a:rPr>
              <a:t>▪</a:t>
            </a:r>
          </a:p>
        </p:txBody>
      </p:sp>
      <p:sp>
        <p:nvSpPr>
          <p:cNvPr id="19" name="TextBox 18"/>
          <p:cNvSpPr txBox="1"/>
          <p:nvPr/>
        </p:nvSpPr>
        <p:spPr>
          <a:xfrm>
            <a:off x="6949440" y="287121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availability of this option depends on the alarm type.</a:t>
            </a:r>
          </a:p>
        </p:txBody>
      </p:sp>
      <p:sp>
        <p:nvSpPr>
          <p:cNvPr id="20" name="TextBox 19"/>
          <p:cNvSpPr txBox="1"/>
          <p:nvPr/>
        </p:nvSpPr>
        <p:spPr>
          <a:xfrm>
            <a:off x="6629400" y="3547872"/>
            <a:ext cx="274320" cy="365760"/>
          </a:xfrm>
          <a:prstGeom prst="rect">
            <a:avLst/>
          </a:prstGeom>
          <a:noFill/>
        </p:spPr>
        <p:txBody>
          <a:bodyPr wrap="square" anchor="t" lIns="50800" rIns="50800" tIns="25400" bIns="25400">
            <a:spAutoFit/>
          </a:bodyPr>
          <a:lstStyle/>
          <a:p>
            <a:pPr algn="l">
              <a:lnSpc>
                <a:spcPct val="100000"/>
              </a:lnSpc>
            </a:pPr>
            <a:r>
              <a:rPr sz="1200" b="1">
                <a:solidFill>
                  <a:srgbClr val="E5484D"/>
                </a:solidFill>
                <a:latin typeface="Calibri"/>
              </a:rPr>
              <a:t>▪</a:t>
            </a:r>
          </a:p>
        </p:txBody>
      </p:sp>
      <p:sp>
        <p:nvSpPr>
          <p:cNvPr id="21" name="TextBox 20"/>
          <p:cNvSpPr txBox="1"/>
          <p:nvPr/>
        </p:nvSpPr>
        <p:spPr>
          <a:xfrm>
            <a:off x="6949440" y="354787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Selecting this new type automatically rejects the QC result.</a:t>
            </a:r>
          </a:p>
        </p:txBody>
      </p:sp>
      <p:sp>
        <p:nvSpPr>
          <p:cNvPr id="22" name="TextBox 21"/>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23" name="TextBox 22"/>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6/10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CONNECTIVITY</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NPOCO-26875</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Multi-System Connectivity Monitoring configuration</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8B5CF6"/>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This feature provides configurable monitoring settings to trigger automated alarms in order to detect communication issues at an early stage allowing users to define custom thresholds.</a:t>
            </a:r>
          </a:p>
          <a:p>
            <a:pPr algn="l">
              <a:lnSpc>
                <a:spcPct val="105000"/>
              </a:lnSpc>
            </a:pPr>
            <a:r>
              <a:rPr sz="1300" b="0">
                <a:solidFill>
                  <a:srgbClr val="1B1F27"/>
                </a:solidFill>
                <a:latin typeface="Calibri"/>
              </a:rPr>
              <a:t> Significantly improving system traceability and compliance support.</a:t>
            </a:r>
          </a:p>
        </p:txBody>
      </p:sp>
      <p:sp>
        <p:nvSpPr>
          <p:cNvPr id="11" name="Rectangle 10"/>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554480"/>
            <a:ext cx="109728" cy="47548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4" name="TextBox 13"/>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8B5CF6"/>
                </a:solidFill>
                <a:latin typeface="Calibri"/>
              </a:rPr>
              <a:t>▪</a:t>
            </a:r>
          </a:p>
        </p:txBody>
      </p:sp>
      <p:sp>
        <p:nvSpPr>
          <p:cNvPr id="15" name="TextBox 14"/>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Authorized users must be able to configure monitoring parameters for each external system independently.</a:t>
            </a:r>
          </a:p>
        </p:txBody>
      </p:sp>
      <p:sp>
        <p:nvSpPr>
          <p:cNvPr id="16" name="TextBox 15"/>
          <p:cNvSpPr txBox="1"/>
          <p:nvPr/>
        </p:nvSpPr>
        <p:spPr>
          <a:xfrm>
            <a:off x="6629400" y="3182112"/>
            <a:ext cx="274320" cy="365760"/>
          </a:xfrm>
          <a:prstGeom prst="rect">
            <a:avLst/>
          </a:prstGeom>
          <a:noFill/>
        </p:spPr>
        <p:txBody>
          <a:bodyPr wrap="square" anchor="t" lIns="50800" rIns="50800" tIns="25400" bIns="25400">
            <a:spAutoFit/>
          </a:bodyPr>
          <a:lstStyle/>
          <a:p>
            <a:pPr algn="l">
              <a:lnSpc>
                <a:spcPct val="100000"/>
              </a:lnSpc>
            </a:pPr>
            <a:r>
              <a:rPr sz="1200" b="1">
                <a:solidFill>
                  <a:srgbClr val="8B5CF6"/>
                </a:solidFill>
                <a:latin typeface="Calibri"/>
              </a:rPr>
              <a:t>▪</a:t>
            </a:r>
          </a:p>
        </p:txBody>
      </p:sp>
      <p:sp>
        <p:nvSpPr>
          <p:cNvPr id="17" name="TextBox 16"/>
          <p:cNvSpPr txBox="1"/>
          <p:nvPr/>
        </p:nvSpPr>
        <p:spPr>
          <a:xfrm>
            <a:off x="6949440" y="318211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system must allow the definition of custom thresholds to trigger an alarm.</a:t>
            </a:r>
          </a:p>
        </p:txBody>
      </p:sp>
      <p:sp>
        <p:nvSpPr>
          <p:cNvPr id="18" name="TextBox 17"/>
          <p:cNvSpPr txBox="1"/>
          <p:nvPr/>
        </p:nvSpPr>
        <p:spPr>
          <a:xfrm>
            <a:off x="6629400" y="3858768"/>
            <a:ext cx="274320" cy="365760"/>
          </a:xfrm>
          <a:prstGeom prst="rect">
            <a:avLst/>
          </a:prstGeom>
          <a:noFill/>
        </p:spPr>
        <p:txBody>
          <a:bodyPr wrap="square" anchor="t" lIns="50800" rIns="50800" tIns="25400" bIns="25400">
            <a:spAutoFit/>
          </a:bodyPr>
          <a:lstStyle/>
          <a:p>
            <a:pPr algn="l">
              <a:lnSpc>
                <a:spcPct val="100000"/>
              </a:lnSpc>
            </a:pPr>
            <a:r>
              <a:rPr sz="1200" b="1">
                <a:solidFill>
                  <a:srgbClr val="8B5CF6"/>
                </a:solidFill>
                <a:latin typeface="Calibri"/>
              </a:rPr>
              <a:t>▪</a:t>
            </a:r>
          </a:p>
        </p:txBody>
      </p:sp>
      <p:sp>
        <p:nvSpPr>
          <p:cNvPr id="19" name="TextBox 18"/>
          <p:cNvSpPr txBox="1"/>
          <p:nvPr/>
        </p:nvSpPr>
        <p:spPr>
          <a:xfrm>
            <a:off x="6949440" y="3858768"/>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system must trigger an automated alarm immediately when a pre-defined threshold is breached.</a:t>
            </a:r>
          </a:p>
        </p:txBody>
      </p:sp>
      <p:sp>
        <p:nvSpPr>
          <p:cNvPr id="20" name="TextBox 19"/>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21" name="TextBox 20"/>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7/10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1E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1E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MATERIAL MGMT</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NPOCO-28356</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POC evo transition - material module data sync</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1EA96B"/>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Our vision is to transition from legacy configurations within POCM to AMM without disrupting clinical workflows, ensuring that material management is more intuitive, secure, and ready for future scalability. And allowing sync between both systems.</a:t>
            </a:r>
          </a:p>
          <a:p>
            <a:pPr algn="l">
              <a:lnSpc>
                <a:spcPct val="105000"/>
              </a:lnSpc>
            </a:pPr>
            <a:r>
              <a:rPr sz="1300" b="0">
                <a:solidFill>
                  <a:srgbClr val="1B1F27"/>
                </a:solidFill>
                <a:latin typeface="Calibri"/>
              </a:rPr>
              <a:t>This feature enables the synchronization between the two products; POCM and  Advanced Material Management (AMM) system.</a:t>
            </a:r>
          </a:p>
          <a:p>
            <a:pPr algn="l">
              <a:lnSpc>
                <a:spcPct val="105000"/>
              </a:lnSpc>
            </a:pPr>
            <a:r>
              <a:rPr sz="1300" b="0">
                <a:solidFill>
                  <a:srgbClr val="1B1F27"/>
                </a:solidFill>
                <a:latin typeface="Calibri"/>
              </a:rPr>
              <a:t>Benefit: By aligning POCM with AMM, we provide POCCs with a more intuitive and secure environment that is built for future scalability.</a:t>
            </a:r>
          </a:p>
        </p:txBody>
      </p:sp>
      <p:sp>
        <p:nvSpPr>
          <p:cNvPr id="11" name="Rectangle 10"/>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554480"/>
            <a:ext cx="109728" cy="4754880"/>
          </a:xfrm>
          <a:prstGeom prst="rect">
            <a:avLst/>
          </a:prstGeom>
          <a:solidFill>
            <a:srgbClr val="1E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4" name="TextBox 13"/>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1EA96B"/>
                </a:solidFill>
                <a:latin typeface="Calibri"/>
              </a:rPr>
              <a:t>▪</a:t>
            </a:r>
          </a:p>
        </p:txBody>
      </p:sp>
      <p:sp>
        <p:nvSpPr>
          <p:cNvPr id="15" name="TextBox 14"/>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A continuous sync mechanism must be established to ensure data consistency from AMM to POCM.</a:t>
            </a:r>
          </a:p>
        </p:txBody>
      </p:sp>
      <p:sp>
        <p:nvSpPr>
          <p:cNvPr id="16" name="TextBox 15"/>
          <p:cNvSpPr txBox="1"/>
          <p:nvPr/>
        </p:nvSpPr>
        <p:spPr>
          <a:xfrm>
            <a:off x="6629400" y="2871216"/>
            <a:ext cx="274320" cy="365760"/>
          </a:xfrm>
          <a:prstGeom prst="rect">
            <a:avLst/>
          </a:prstGeom>
          <a:noFill/>
        </p:spPr>
        <p:txBody>
          <a:bodyPr wrap="square" anchor="t" lIns="50800" rIns="50800" tIns="25400" bIns="25400">
            <a:spAutoFit/>
          </a:bodyPr>
          <a:lstStyle/>
          <a:p>
            <a:pPr algn="l">
              <a:lnSpc>
                <a:spcPct val="100000"/>
              </a:lnSpc>
            </a:pPr>
            <a:r>
              <a:rPr sz="1200" b="1">
                <a:solidFill>
                  <a:srgbClr val="1EA96B"/>
                </a:solidFill>
                <a:latin typeface="Calibri"/>
              </a:rPr>
              <a:t>▪</a:t>
            </a:r>
          </a:p>
        </p:txBody>
      </p:sp>
      <p:sp>
        <p:nvSpPr>
          <p:cNvPr id="17" name="TextBox 16"/>
          <p:cNvSpPr txBox="1"/>
          <p:nvPr/>
        </p:nvSpPr>
        <p:spPr>
          <a:xfrm>
            <a:off x="6949440" y="287121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transition must be "zero-downtime" for clinical workflows; devices must remain functional and configurable throughout the sync process.</a:t>
            </a:r>
          </a:p>
        </p:txBody>
      </p:sp>
      <p:sp>
        <p:nvSpPr>
          <p:cNvPr id="18" name="TextBox 17"/>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19" name="TextBox 18"/>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8/10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USER ASSISTANCE</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NPOCO-28327</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Enable deep-linking to specific documentation chapters within User Assistance</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F5A623"/>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Support deep-linking to specific chapters within the User Assistance (UA) documentation.</a:t>
            </a:r>
          </a:p>
        </p:txBody>
      </p:sp>
      <p:sp>
        <p:nvSpPr>
          <p:cNvPr id="11" name="TextBox 10"/>
          <p:cNvSpPr txBox="1"/>
          <p:nvPr/>
        </p:nvSpPr>
        <p:spPr>
          <a:xfrm>
            <a:off x="548640" y="3493008"/>
            <a:ext cx="5486400" cy="320040"/>
          </a:xfrm>
          <a:prstGeom prst="rect">
            <a:avLst/>
          </a:prstGeom>
          <a:noFill/>
        </p:spPr>
        <p:txBody>
          <a:bodyPr wrap="square" anchor="t" lIns="50800" rIns="50800" tIns="25400" bIns="25400">
            <a:spAutoFit/>
          </a:bodyPr>
          <a:lstStyle/>
          <a:p>
            <a:pPr algn="l">
              <a:lnSpc>
                <a:spcPct val="100000"/>
              </a:lnSpc>
            </a:pPr>
            <a:r>
              <a:rPr sz="1500" b="1">
                <a:solidFill>
                  <a:srgbClr val="F5A623"/>
                </a:solidFill>
                <a:latin typeface="Calibri"/>
              </a:rPr>
              <a:t>Why / Context</a:t>
            </a:r>
          </a:p>
        </p:txBody>
      </p:sp>
      <p:sp>
        <p:nvSpPr>
          <p:cNvPr id="12" name="TextBox 11"/>
          <p:cNvSpPr txBox="1"/>
          <p:nvPr/>
        </p:nvSpPr>
        <p:spPr>
          <a:xfrm>
            <a:off x="548640" y="3877056"/>
            <a:ext cx="5486400" cy="2011680"/>
          </a:xfrm>
          <a:prstGeom prst="rect">
            <a:avLst/>
          </a:prstGeom>
          <a:noFill/>
        </p:spPr>
        <p:txBody>
          <a:bodyPr wrap="square" anchor="t" lIns="50800" rIns="50800" tIns="25400" bIns="25400">
            <a:spAutoFit/>
          </a:bodyPr>
          <a:lstStyle/>
          <a:p>
            <a:pPr algn="l">
              <a:lnSpc>
                <a:spcPct val="105000"/>
              </a:lnSpc>
            </a:pPr>
            <a:r>
              <a:rPr sz="1250" b="0">
                <a:solidFill>
                  <a:srgbClr val="5B6472"/>
                </a:solidFill>
                <a:latin typeface="Calibri"/>
              </a:rPr>
              <a:t>By extending the /user-assistance endpoint, APOC modules such as the Operators section can link users directly to the relevant documentation topic instead of always landing on the manual homepage.</a:t>
            </a:r>
          </a:p>
        </p:txBody>
      </p:sp>
      <p:sp>
        <p:nvSpPr>
          <p:cNvPr id="13" name="Rectangle 12"/>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109728" cy="47548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6" name="TextBox 15"/>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F5A623"/>
                </a:solidFill>
                <a:latin typeface="Calibri"/>
              </a:rPr>
              <a:t>▪</a:t>
            </a:r>
          </a:p>
        </p:txBody>
      </p:sp>
      <p:sp>
        <p:nvSpPr>
          <p:cNvPr id="17" name="TextBox 16"/>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Extend the /user-assistance endpoint with new query parameters:</a:t>
            </a:r>
          </a:p>
        </p:txBody>
      </p:sp>
      <p:sp>
        <p:nvSpPr>
          <p:cNvPr id="18" name="TextBox 17"/>
          <p:cNvSpPr txBox="1"/>
          <p:nvPr/>
        </p:nvSpPr>
        <p:spPr>
          <a:xfrm>
            <a:off x="6629400" y="2871216"/>
            <a:ext cx="274320" cy="365760"/>
          </a:xfrm>
          <a:prstGeom prst="rect">
            <a:avLst/>
          </a:prstGeom>
          <a:noFill/>
        </p:spPr>
        <p:txBody>
          <a:bodyPr wrap="square" anchor="t" lIns="50800" rIns="50800" tIns="25400" bIns="25400">
            <a:spAutoFit/>
          </a:bodyPr>
          <a:lstStyle/>
          <a:p>
            <a:pPr algn="l">
              <a:lnSpc>
                <a:spcPct val="100000"/>
              </a:lnSpc>
            </a:pPr>
            <a:r>
              <a:rPr sz="1200" b="1">
                <a:solidFill>
                  <a:srgbClr val="F5A623"/>
                </a:solidFill>
                <a:latin typeface="Calibri"/>
              </a:rPr>
              <a:t>▪</a:t>
            </a:r>
          </a:p>
        </p:txBody>
      </p:sp>
      <p:sp>
        <p:nvSpPr>
          <p:cNvPr id="19" name="TextBox 18"/>
          <p:cNvSpPr txBox="1"/>
          <p:nvPr/>
        </p:nvSpPr>
        <p:spPr>
          <a:xfrm>
            <a:off x="6949440" y="287121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APOC modules can link users directly to the relevant documentation topic.</a:t>
            </a:r>
          </a:p>
        </p:txBody>
      </p:sp>
      <p:sp>
        <p:nvSpPr>
          <p:cNvPr id="20" name="TextBox 19"/>
          <p:cNvSpPr txBox="1"/>
          <p:nvPr/>
        </p:nvSpPr>
        <p:spPr>
          <a:xfrm>
            <a:off x="6629400" y="3547872"/>
            <a:ext cx="274320" cy="365760"/>
          </a:xfrm>
          <a:prstGeom prst="rect">
            <a:avLst/>
          </a:prstGeom>
          <a:noFill/>
        </p:spPr>
        <p:txBody>
          <a:bodyPr wrap="square" anchor="t" lIns="50800" rIns="50800" tIns="25400" bIns="25400">
            <a:spAutoFit/>
          </a:bodyPr>
          <a:lstStyle/>
          <a:p>
            <a:pPr algn="l">
              <a:lnSpc>
                <a:spcPct val="100000"/>
              </a:lnSpc>
            </a:pPr>
            <a:r>
              <a:rPr sz="1200" b="1">
                <a:solidFill>
                  <a:srgbClr val="F5A623"/>
                </a:solidFill>
                <a:latin typeface="Calibri"/>
              </a:rPr>
              <a:t>▪</a:t>
            </a:r>
          </a:p>
        </p:txBody>
      </p:sp>
      <p:sp>
        <p:nvSpPr>
          <p:cNvPr id="21" name="TextBox 20"/>
          <p:cNvSpPr txBox="1"/>
          <p:nvPr/>
        </p:nvSpPr>
        <p:spPr>
          <a:xfrm>
            <a:off x="6949440" y="354787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If no parameters are provided, the current behaviour is preserved.</a:t>
            </a:r>
          </a:p>
        </p:txBody>
      </p:sp>
      <p:sp>
        <p:nvSpPr>
          <p:cNvPr id="22" name="TextBox 21"/>
          <p:cNvSpPr txBox="1"/>
          <p:nvPr/>
        </p:nvSpPr>
        <p:spPr>
          <a:xfrm>
            <a:off x="6629400" y="4224528"/>
            <a:ext cx="274320" cy="365760"/>
          </a:xfrm>
          <a:prstGeom prst="rect">
            <a:avLst/>
          </a:prstGeom>
          <a:noFill/>
        </p:spPr>
        <p:txBody>
          <a:bodyPr wrap="square" anchor="t" lIns="50800" rIns="50800" tIns="25400" bIns="25400">
            <a:spAutoFit/>
          </a:bodyPr>
          <a:lstStyle/>
          <a:p>
            <a:pPr algn="l">
              <a:lnSpc>
                <a:spcPct val="100000"/>
              </a:lnSpc>
            </a:pPr>
            <a:r>
              <a:rPr sz="1200" b="1">
                <a:solidFill>
                  <a:srgbClr val="F5A623"/>
                </a:solidFill>
                <a:latin typeface="Calibri"/>
              </a:rPr>
              <a:t>▪</a:t>
            </a:r>
          </a:p>
        </p:txBody>
      </p:sp>
      <p:sp>
        <p:nvSpPr>
          <p:cNvPr id="23" name="TextBox 22"/>
          <p:cNvSpPr txBox="1"/>
          <p:nvPr/>
        </p:nvSpPr>
        <p:spPr>
          <a:xfrm>
            <a:off x="6949440" y="4224528"/>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Backward compatibility must be maintained.</a:t>
            </a:r>
          </a:p>
        </p:txBody>
      </p:sp>
      <p:sp>
        <p:nvSpPr>
          <p:cNvPr id="24" name="TextBox 23"/>
          <p:cNvSpPr txBox="1"/>
          <p:nvPr/>
        </p:nvSpPr>
        <p:spPr>
          <a:xfrm>
            <a:off x="6629400" y="4590288"/>
            <a:ext cx="274320" cy="365760"/>
          </a:xfrm>
          <a:prstGeom prst="rect">
            <a:avLst/>
          </a:prstGeom>
          <a:noFill/>
        </p:spPr>
        <p:txBody>
          <a:bodyPr wrap="square" anchor="t" lIns="50800" rIns="50800" tIns="25400" bIns="25400">
            <a:spAutoFit/>
          </a:bodyPr>
          <a:lstStyle/>
          <a:p>
            <a:pPr algn="l">
              <a:lnSpc>
                <a:spcPct val="100000"/>
              </a:lnSpc>
            </a:pPr>
            <a:r>
              <a:rPr sz="1200" b="1">
                <a:solidFill>
                  <a:srgbClr val="F5A623"/>
                </a:solidFill>
                <a:latin typeface="Calibri"/>
              </a:rPr>
              <a:t>▪</a:t>
            </a:r>
          </a:p>
        </p:txBody>
      </p:sp>
      <p:sp>
        <p:nvSpPr>
          <p:cNvPr id="25" name="TextBox 24"/>
          <p:cNvSpPr txBox="1"/>
          <p:nvPr/>
        </p:nvSpPr>
        <p:spPr>
          <a:xfrm>
            <a:off x="6949440" y="4590288"/>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If a tocId cannot be resolved, the system gracefully falls back to the first topic in the table of contents.</a:t>
            </a:r>
          </a:p>
        </p:txBody>
      </p:sp>
      <p:sp>
        <p:nvSpPr>
          <p:cNvPr id="26" name="TextBox 25"/>
          <p:cNvSpPr txBox="1"/>
          <p:nvPr/>
        </p:nvSpPr>
        <p:spPr>
          <a:xfrm>
            <a:off x="6629400" y="5577840"/>
            <a:ext cx="274320" cy="365760"/>
          </a:xfrm>
          <a:prstGeom prst="rect">
            <a:avLst/>
          </a:prstGeom>
          <a:noFill/>
        </p:spPr>
        <p:txBody>
          <a:bodyPr wrap="square" anchor="t" lIns="50800" rIns="50800" tIns="25400" bIns="25400">
            <a:spAutoFit/>
          </a:bodyPr>
          <a:lstStyle/>
          <a:p>
            <a:pPr algn="l">
              <a:lnSpc>
                <a:spcPct val="100000"/>
              </a:lnSpc>
            </a:pPr>
            <a:r>
              <a:rPr sz="1200" b="1">
                <a:solidFill>
                  <a:srgbClr val="F5A623"/>
                </a:solidFill>
                <a:latin typeface="Calibri"/>
              </a:rPr>
              <a:t>▪</a:t>
            </a:r>
          </a:p>
        </p:txBody>
      </p:sp>
      <p:sp>
        <p:nvSpPr>
          <p:cNvPr id="27" name="TextBox 26"/>
          <p:cNvSpPr txBox="1"/>
          <p:nvPr/>
        </p:nvSpPr>
        <p:spPr>
          <a:xfrm>
            <a:off x="6949440" y="557784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No error should be shown when a tocId cannot be resolved.</a:t>
            </a:r>
          </a:p>
        </p:txBody>
      </p:sp>
      <p:sp>
        <p:nvSpPr>
          <p:cNvPr id="28" name="TextBox 27"/>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29" name="TextBox 28"/>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9/10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82296"/>
          </a:xfrm>
          <a:prstGeom prst="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74320"/>
            <a:ext cx="2377440" cy="384048"/>
          </a:xfrm>
          <a:prstGeom prst="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2377440" cy="384048"/>
          </a:xfrm>
          <a:prstGeom prst="rect">
            <a:avLst/>
          </a:prstGeom>
          <a:noFill/>
        </p:spPr>
        <p:txBody>
          <a:bodyPr wrap="square" anchor="ctr" lIns="50800" rIns="50800" tIns="25400" bIns="25400">
            <a:spAutoFit/>
          </a:bodyPr>
          <a:lstStyle/>
          <a:p>
            <a:pPr algn="ctr">
              <a:lnSpc>
                <a:spcPct val="100000"/>
              </a:lnSpc>
            </a:pPr>
            <a:r>
              <a:rPr sz="1100" b="1">
                <a:solidFill>
                  <a:srgbClr val="FFFFFF"/>
                </a:solidFill>
                <a:latin typeface="Calibri"/>
              </a:rPr>
              <a:t>LICENSING</a:t>
            </a:r>
          </a:p>
        </p:txBody>
      </p:sp>
      <p:sp>
        <p:nvSpPr>
          <p:cNvPr id="6" name="TextBox 5"/>
          <p:cNvSpPr txBox="1"/>
          <p:nvPr/>
        </p:nvSpPr>
        <p:spPr>
          <a:xfrm>
            <a:off x="8595360" y="274320"/>
            <a:ext cx="3017520" cy="384048"/>
          </a:xfrm>
          <a:prstGeom prst="rect">
            <a:avLst/>
          </a:prstGeom>
          <a:noFill/>
        </p:spPr>
        <p:txBody>
          <a:bodyPr wrap="square" anchor="t" lIns="50800" rIns="50800" tIns="25400" bIns="25400">
            <a:spAutoFit/>
          </a:bodyPr>
          <a:lstStyle/>
          <a:p>
            <a:pPr algn="r">
              <a:lnSpc>
                <a:spcPct val="100000"/>
              </a:lnSpc>
            </a:pPr>
            <a:r>
              <a:rPr sz="1400" b="1">
                <a:solidFill>
                  <a:srgbClr val="9FC0FF"/>
                </a:solidFill>
                <a:latin typeface="Calibri"/>
              </a:rPr>
              <a:t>NPOCO-27663</a:t>
            </a:r>
          </a:p>
        </p:txBody>
      </p:sp>
      <p:sp>
        <p:nvSpPr>
          <p:cNvPr id="7" name="TextBox 6"/>
          <p:cNvSpPr txBox="1"/>
          <p:nvPr/>
        </p:nvSpPr>
        <p:spPr>
          <a:xfrm>
            <a:off x="8595360" y="658368"/>
            <a:ext cx="3017520" cy="365760"/>
          </a:xfrm>
          <a:prstGeom prst="rect">
            <a:avLst/>
          </a:prstGeom>
          <a:noFill/>
        </p:spPr>
        <p:txBody>
          <a:bodyPr wrap="square" anchor="t" lIns="50800" rIns="50800" tIns="25400" bIns="25400">
            <a:spAutoFit/>
          </a:bodyPr>
          <a:lstStyle/>
          <a:p>
            <a:pPr algn="r">
              <a:lnSpc>
                <a:spcPct val="100000"/>
              </a:lnSpc>
            </a:pPr>
            <a:r>
              <a:rPr sz="1050" b="0">
                <a:solidFill>
                  <a:srgbClr val="C9D6F0"/>
                </a:solidFill>
                <a:latin typeface="Calibri"/>
              </a:rPr>
              <a:t>Status: Created</a:t>
            </a:r>
          </a:p>
        </p:txBody>
      </p:sp>
      <p:sp>
        <p:nvSpPr>
          <p:cNvPr id="8" name="TextBox 7"/>
          <p:cNvSpPr txBox="1"/>
          <p:nvPr/>
        </p:nvSpPr>
        <p:spPr>
          <a:xfrm>
            <a:off x="548640" y="713232"/>
            <a:ext cx="7863840" cy="566928"/>
          </a:xfrm>
          <a:prstGeom prst="rect">
            <a:avLst/>
          </a:prstGeom>
          <a:noFill/>
        </p:spPr>
        <p:txBody>
          <a:bodyPr wrap="square" anchor="t" lIns="50800" rIns="50800" tIns="25400" bIns="25400">
            <a:spAutoFit/>
          </a:bodyPr>
          <a:lstStyle/>
          <a:p>
            <a:pPr algn="l">
              <a:lnSpc>
                <a:spcPct val="100000"/>
              </a:lnSpc>
            </a:pPr>
            <a:r>
              <a:rPr sz="2100" b="1">
                <a:solidFill>
                  <a:srgbClr val="FFFFFF"/>
                </a:solidFill>
                <a:latin typeface="Calibri"/>
              </a:rPr>
              <a:t>Passthrough enforcement</a:t>
            </a:r>
          </a:p>
        </p:txBody>
      </p:sp>
      <p:sp>
        <p:nvSpPr>
          <p:cNvPr id="9" name="TextBox 8"/>
          <p:cNvSpPr txBox="1"/>
          <p:nvPr/>
        </p:nvSpPr>
        <p:spPr>
          <a:xfrm>
            <a:off x="548640" y="1554480"/>
            <a:ext cx="5486400" cy="320040"/>
          </a:xfrm>
          <a:prstGeom prst="rect">
            <a:avLst/>
          </a:prstGeom>
          <a:noFill/>
        </p:spPr>
        <p:txBody>
          <a:bodyPr wrap="square" anchor="t" lIns="50800" rIns="50800" tIns="25400" bIns="25400">
            <a:spAutoFit/>
          </a:bodyPr>
          <a:lstStyle/>
          <a:p>
            <a:pPr algn="l">
              <a:lnSpc>
                <a:spcPct val="100000"/>
              </a:lnSpc>
            </a:pPr>
            <a:r>
              <a:rPr sz="1500" b="1">
                <a:solidFill>
                  <a:srgbClr val="2D3748"/>
                </a:solidFill>
                <a:latin typeface="Calibri"/>
              </a:rPr>
              <a:t>What it is</a:t>
            </a:r>
          </a:p>
        </p:txBody>
      </p:sp>
      <p:sp>
        <p:nvSpPr>
          <p:cNvPr id="10" name="TextBox 9"/>
          <p:cNvSpPr txBox="1"/>
          <p:nvPr/>
        </p:nvSpPr>
        <p:spPr>
          <a:xfrm>
            <a:off x="548640" y="1938528"/>
            <a:ext cx="5486400" cy="1463040"/>
          </a:xfrm>
          <a:prstGeom prst="rect">
            <a:avLst/>
          </a:prstGeom>
          <a:noFill/>
        </p:spPr>
        <p:txBody>
          <a:bodyPr wrap="square" anchor="t" lIns="50800" rIns="50800" tIns="25400" bIns="25400">
            <a:spAutoFit/>
          </a:bodyPr>
          <a:lstStyle/>
          <a:p>
            <a:pPr algn="l">
              <a:lnSpc>
                <a:spcPct val="105000"/>
              </a:lnSpc>
            </a:pPr>
            <a:r>
              <a:rPr sz="1300" b="0">
                <a:solidFill>
                  <a:srgbClr val="1B1F27"/>
                </a:solidFill>
                <a:latin typeface="Calibri"/>
              </a:rPr>
              <a:t>navify POC Operations will support a "Passthrough product" deployment mode, gated by a license flag, initially targeting the China market.</a:t>
            </a:r>
          </a:p>
        </p:txBody>
      </p:sp>
      <p:sp>
        <p:nvSpPr>
          <p:cNvPr id="11" name="TextBox 10"/>
          <p:cNvSpPr txBox="1"/>
          <p:nvPr/>
        </p:nvSpPr>
        <p:spPr>
          <a:xfrm>
            <a:off x="548640" y="3493008"/>
            <a:ext cx="5486400" cy="320040"/>
          </a:xfrm>
          <a:prstGeom prst="rect">
            <a:avLst/>
          </a:prstGeom>
          <a:noFill/>
        </p:spPr>
        <p:txBody>
          <a:bodyPr wrap="square" anchor="t" lIns="50800" rIns="50800" tIns="25400" bIns="25400">
            <a:spAutoFit/>
          </a:bodyPr>
          <a:lstStyle/>
          <a:p>
            <a:pPr algn="l">
              <a:lnSpc>
                <a:spcPct val="100000"/>
              </a:lnSpc>
            </a:pPr>
            <a:r>
              <a:rPr sz="1500" b="1">
                <a:solidFill>
                  <a:srgbClr val="2D3748"/>
                </a:solidFill>
                <a:latin typeface="Calibri"/>
              </a:rPr>
              <a:t>Why / Context</a:t>
            </a:r>
          </a:p>
        </p:txBody>
      </p:sp>
      <p:sp>
        <p:nvSpPr>
          <p:cNvPr id="12" name="TextBox 11"/>
          <p:cNvSpPr txBox="1"/>
          <p:nvPr/>
        </p:nvSpPr>
        <p:spPr>
          <a:xfrm>
            <a:off x="548640" y="3877056"/>
            <a:ext cx="5486400" cy="2011680"/>
          </a:xfrm>
          <a:prstGeom prst="rect">
            <a:avLst/>
          </a:prstGeom>
          <a:noFill/>
        </p:spPr>
        <p:txBody>
          <a:bodyPr wrap="square" anchor="t" lIns="50800" rIns="50800" tIns="25400" bIns="25400">
            <a:spAutoFit/>
          </a:bodyPr>
          <a:lstStyle/>
          <a:p>
            <a:pPr algn="l">
              <a:lnSpc>
                <a:spcPct val="105000"/>
              </a:lnSpc>
            </a:pPr>
            <a:r>
              <a:rPr sz="1250" b="0">
                <a:solidFill>
                  <a:srgbClr val="5B6472"/>
                </a:solidFill>
                <a:latin typeface="Calibri"/>
              </a:rPr>
              <a:t>When a deployment is identified as Passthrough, the application is used as a connectivity relay point only.</a:t>
            </a:r>
          </a:p>
          <a:p>
            <a:pPr algn="l">
              <a:lnSpc>
                <a:spcPct val="105000"/>
              </a:lnSpc>
            </a:pPr>
            <a:r>
              <a:rPr sz="1250" b="0">
                <a:solidFill>
                  <a:srgbClr val="5B6472"/>
                </a:solidFill>
                <a:latin typeface="Calibri"/>
              </a:rPr>
              <a:t>This is intended for customers on a Passthrough subscription in POCM.</a:t>
            </a:r>
          </a:p>
        </p:txBody>
      </p:sp>
      <p:sp>
        <p:nvSpPr>
          <p:cNvPr id="13" name="Rectangle 12"/>
          <p:cNvSpPr/>
          <p:nvPr/>
        </p:nvSpPr>
        <p:spPr>
          <a:xfrm>
            <a:off x="6309360" y="1554480"/>
            <a:ext cx="5303520" cy="4754880"/>
          </a:xfrm>
          <a:prstGeom prst="rect">
            <a:avLst/>
          </a:prstGeom>
          <a:solidFill>
            <a:srgbClr val="EE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109728" cy="4754880"/>
          </a:xfrm>
          <a:prstGeom prst="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4846320" cy="365760"/>
          </a:xfrm>
          <a:prstGeom prst="rect">
            <a:avLst/>
          </a:prstGeom>
          <a:noFill/>
        </p:spPr>
        <p:txBody>
          <a:bodyPr wrap="square" anchor="t" lIns="50800" rIns="50800" tIns="25400" bIns="25400">
            <a:spAutoFit/>
          </a:bodyPr>
          <a:lstStyle/>
          <a:p>
            <a:pPr algn="l">
              <a:lnSpc>
                <a:spcPct val="100000"/>
              </a:lnSpc>
            </a:pPr>
            <a:r>
              <a:rPr sz="1500" b="1">
                <a:solidFill>
                  <a:srgbClr val="0A1F44"/>
                </a:solidFill>
                <a:latin typeface="Calibri"/>
              </a:rPr>
              <a:t>Acceptance criteria</a:t>
            </a:r>
          </a:p>
        </p:txBody>
      </p:sp>
      <p:sp>
        <p:nvSpPr>
          <p:cNvPr id="16" name="TextBox 15"/>
          <p:cNvSpPr txBox="1"/>
          <p:nvPr/>
        </p:nvSpPr>
        <p:spPr>
          <a:xfrm>
            <a:off x="6629400" y="2194560"/>
            <a:ext cx="274320" cy="365760"/>
          </a:xfrm>
          <a:prstGeom prst="rect">
            <a:avLst/>
          </a:prstGeom>
          <a:noFill/>
        </p:spPr>
        <p:txBody>
          <a:bodyPr wrap="square" anchor="t" lIns="50800" rIns="50800" tIns="25400" bIns="25400">
            <a:spAutoFit/>
          </a:bodyPr>
          <a:lstStyle/>
          <a:p>
            <a:pPr algn="l">
              <a:lnSpc>
                <a:spcPct val="100000"/>
              </a:lnSpc>
            </a:pPr>
            <a:r>
              <a:rPr sz="1200" b="1">
                <a:solidFill>
                  <a:srgbClr val="2D3748"/>
                </a:solidFill>
                <a:latin typeface="Calibri"/>
              </a:rPr>
              <a:t>▪</a:t>
            </a:r>
          </a:p>
        </p:txBody>
      </p:sp>
      <p:sp>
        <p:nvSpPr>
          <p:cNvPr id="17" name="TextBox 16"/>
          <p:cNvSpPr txBox="1"/>
          <p:nvPr/>
        </p:nvSpPr>
        <p:spPr>
          <a:xfrm>
            <a:off x="6949440" y="2194560"/>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deployment mode must be identified as Passthrough.</a:t>
            </a:r>
          </a:p>
        </p:txBody>
      </p:sp>
      <p:sp>
        <p:nvSpPr>
          <p:cNvPr id="18" name="TextBox 17"/>
          <p:cNvSpPr txBox="1"/>
          <p:nvPr/>
        </p:nvSpPr>
        <p:spPr>
          <a:xfrm>
            <a:off x="6629400" y="2871216"/>
            <a:ext cx="274320" cy="365760"/>
          </a:xfrm>
          <a:prstGeom prst="rect">
            <a:avLst/>
          </a:prstGeom>
          <a:noFill/>
        </p:spPr>
        <p:txBody>
          <a:bodyPr wrap="square" anchor="t" lIns="50800" rIns="50800" tIns="25400" bIns="25400">
            <a:spAutoFit/>
          </a:bodyPr>
          <a:lstStyle/>
          <a:p>
            <a:pPr algn="l">
              <a:lnSpc>
                <a:spcPct val="100000"/>
              </a:lnSpc>
            </a:pPr>
            <a:r>
              <a:rPr sz="1200" b="1">
                <a:solidFill>
                  <a:srgbClr val="2D3748"/>
                </a:solidFill>
                <a:latin typeface="Calibri"/>
              </a:rPr>
              <a:t>▪</a:t>
            </a:r>
          </a:p>
        </p:txBody>
      </p:sp>
      <p:sp>
        <p:nvSpPr>
          <p:cNvPr id="19" name="TextBox 18"/>
          <p:cNvSpPr txBox="1"/>
          <p:nvPr/>
        </p:nvSpPr>
        <p:spPr>
          <a:xfrm>
            <a:off x="6949440" y="287121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mode must be gated by a license flag.</a:t>
            </a:r>
          </a:p>
        </p:txBody>
      </p:sp>
      <p:sp>
        <p:nvSpPr>
          <p:cNvPr id="20" name="TextBox 19"/>
          <p:cNvSpPr txBox="1"/>
          <p:nvPr/>
        </p:nvSpPr>
        <p:spPr>
          <a:xfrm>
            <a:off x="6629400" y="3236976"/>
            <a:ext cx="274320" cy="365760"/>
          </a:xfrm>
          <a:prstGeom prst="rect">
            <a:avLst/>
          </a:prstGeom>
          <a:noFill/>
        </p:spPr>
        <p:txBody>
          <a:bodyPr wrap="square" anchor="t" lIns="50800" rIns="50800" tIns="25400" bIns="25400">
            <a:spAutoFit/>
          </a:bodyPr>
          <a:lstStyle/>
          <a:p>
            <a:pPr algn="l">
              <a:lnSpc>
                <a:spcPct val="100000"/>
              </a:lnSpc>
            </a:pPr>
            <a:r>
              <a:rPr sz="1200" b="1">
                <a:solidFill>
                  <a:srgbClr val="2D3748"/>
                </a:solidFill>
                <a:latin typeface="Calibri"/>
              </a:rPr>
              <a:t>▪</a:t>
            </a:r>
          </a:p>
        </p:txBody>
      </p:sp>
      <p:sp>
        <p:nvSpPr>
          <p:cNvPr id="21" name="TextBox 20"/>
          <p:cNvSpPr txBox="1"/>
          <p:nvPr/>
        </p:nvSpPr>
        <p:spPr>
          <a:xfrm>
            <a:off x="6949440" y="3236976"/>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In Passthrough mode, customers only see the external connection status.</a:t>
            </a:r>
          </a:p>
        </p:txBody>
      </p:sp>
      <p:sp>
        <p:nvSpPr>
          <p:cNvPr id="22" name="TextBox 21"/>
          <p:cNvSpPr txBox="1"/>
          <p:nvPr/>
        </p:nvSpPr>
        <p:spPr>
          <a:xfrm>
            <a:off x="6629400" y="3913632"/>
            <a:ext cx="274320" cy="365760"/>
          </a:xfrm>
          <a:prstGeom prst="rect">
            <a:avLst/>
          </a:prstGeom>
          <a:noFill/>
        </p:spPr>
        <p:txBody>
          <a:bodyPr wrap="square" anchor="t" lIns="50800" rIns="50800" tIns="25400" bIns="25400">
            <a:spAutoFit/>
          </a:bodyPr>
          <a:lstStyle/>
          <a:p>
            <a:pPr algn="l">
              <a:lnSpc>
                <a:spcPct val="100000"/>
              </a:lnSpc>
            </a:pPr>
            <a:r>
              <a:rPr sz="1200" b="1">
                <a:solidFill>
                  <a:srgbClr val="2D3748"/>
                </a:solidFill>
                <a:latin typeface="Calibri"/>
              </a:rPr>
              <a:t>▪</a:t>
            </a:r>
          </a:p>
        </p:txBody>
      </p:sp>
      <p:sp>
        <p:nvSpPr>
          <p:cNvPr id="23" name="TextBox 22"/>
          <p:cNvSpPr txBox="1"/>
          <p:nvPr/>
        </p:nvSpPr>
        <p:spPr>
          <a:xfrm>
            <a:off x="6949440" y="3913632"/>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All other functionalities must be greyed out and inaccessible.</a:t>
            </a:r>
          </a:p>
        </p:txBody>
      </p:sp>
      <p:sp>
        <p:nvSpPr>
          <p:cNvPr id="24" name="TextBox 23"/>
          <p:cNvSpPr txBox="1"/>
          <p:nvPr/>
        </p:nvSpPr>
        <p:spPr>
          <a:xfrm>
            <a:off x="6629400" y="4590288"/>
            <a:ext cx="274320" cy="365760"/>
          </a:xfrm>
          <a:prstGeom prst="rect">
            <a:avLst/>
          </a:prstGeom>
          <a:noFill/>
        </p:spPr>
        <p:txBody>
          <a:bodyPr wrap="square" anchor="t" lIns="50800" rIns="50800" tIns="25400" bIns="25400">
            <a:spAutoFit/>
          </a:bodyPr>
          <a:lstStyle/>
          <a:p>
            <a:pPr algn="l">
              <a:lnSpc>
                <a:spcPct val="100000"/>
              </a:lnSpc>
            </a:pPr>
            <a:r>
              <a:rPr sz="1200" b="1">
                <a:solidFill>
                  <a:srgbClr val="2D3748"/>
                </a:solidFill>
                <a:latin typeface="Calibri"/>
              </a:rPr>
              <a:t>▪</a:t>
            </a:r>
          </a:p>
        </p:txBody>
      </p:sp>
      <p:sp>
        <p:nvSpPr>
          <p:cNvPr id="25" name="TextBox 24"/>
          <p:cNvSpPr txBox="1"/>
          <p:nvPr/>
        </p:nvSpPr>
        <p:spPr>
          <a:xfrm>
            <a:off x="6949440" y="4590288"/>
            <a:ext cx="4343400" cy="640080"/>
          </a:xfrm>
          <a:prstGeom prst="rect">
            <a:avLst/>
          </a:prstGeom>
          <a:noFill/>
        </p:spPr>
        <p:txBody>
          <a:bodyPr wrap="square" anchor="t" lIns="50800" rIns="50800" tIns="25400" bIns="25400">
            <a:spAutoFit/>
          </a:bodyPr>
          <a:lstStyle/>
          <a:p>
            <a:pPr algn="l">
              <a:lnSpc>
                <a:spcPct val="100000"/>
              </a:lnSpc>
            </a:pPr>
            <a:r>
              <a:rPr sz="1150" b="0">
                <a:solidFill>
                  <a:srgbClr val="1B1F27"/>
                </a:solidFill>
                <a:latin typeface="Calibri"/>
              </a:rPr>
              <a:t>The UI must prevent access to features that are not licensed.</a:t>
            </a:r>
          </a:p>
        </p:txBody>
      </p:sp>
      <p:sp>
        <p:nvSpPr>
          <p:cNvPr id="26" name="TextBox 25"/>
          <p:cNvSpPr txBox="1"/>
          <p:nvPr/>
        </p:nvSpPr>
        <p:spPr>
          <a:xfrm>
            <a:off x="548640" y="6446520"/>
            <a:ext cx="8229600" cy="320040"/>
          </a:xfrm>
          <a:prstGeom prst="rect">
            <a:avLst/>
          </a:prstGeom>
          <a:noFill/>
        </p:spPr>
        <p:txBody>
          <a:bodyPr wrap="square" anchor="t" lIns="50800" rIns="50800" tIns="25400" bIns="25400">
            <a:spAutoFit/>
          </a:bodyPr>
          <a:lstStyle/>
          <a:p>
            <a:pPr algn="l">
              <a:lnSpc>
                <a:spcPct val="100000"/>
              </a:lnSpc>
            </a:pPr>
            <a:r>
              <a:rPr sz="950" b="0">
                <a:solidFill>
                  <a:srgbClr val="5B6472"/>
                </a:solidFill>
                <a:latin typeface="Calibri"/>
              </a:rPr>
              <a:t>navify POC Operations · PI04 2026</a:t>
            </a:r>
          </a:p>
        </p:txBody>
      </p:sp>
      <p:sp>
        <p:nvSpPr>
          <p:cNvPr id="27" name="TextBox 26"/>
          <p:cNvSpPr txBox="1"/>
          <p:nvPr/>
        </p:nvSpPr>
        <p:spPr>
          <a:xfrm>
            <a:off x="10424160" y="6446520"/>
            <a:ext cx="1280160" cy="320040"/>
          </a:xfrm>
          <a:prstGeom prst="rect">
            <a:avLst/>
          </a:prstGeom>
          <a:noFill/>
        </p:spPr>
        <p:txBody>
          <a:bodyPr wrap="square" anchor="t" lIns="50800" rIns="50800" tIns="25400" bIns="25400">
            <a:spAutoFit/>
          </a:bodyPr>
          <a:lstStyle/>
          <a:p>
            <a:pPr algn="r">
              <a:lnSpc>
                <a:spcPct val="100000"/>
              </a:lnSpc>
            </a:pPr>
            <a:r>
              <a:rPr sz="950" b="0">
                <a:solidFill>
                  <a:srgbClr val="5B6472"/>
                </a:solidFill>
                <a:latin typeface="Calibri"/>
              </a:rPr>
              <a:t>10/10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731520"/>
          </a:xfrm>
          <a:prstGeom prst="rect">
            <a:avLst/>
          </a:prstGeom>
          <a:noFill/>
        </p:spPr>
        <p:txBody>
          <a:bodyPr wrap="square" anchor="t" lIns="50800" rIns="50800" tIns="25400" bIns="25400">
            <a:spAutoFit/>
          </a:bodyPr>
          <a:lstStyle/>
          <a:p>
            <a:pPr algn="l">
              <a:lnSpc>
                <a:spcPct val="100000"/>
              </a:lnSpc>
            </a:pPr>
            <a:r>
              <a:rPr sz="2600" b="1">
                <a:solidFill>
                  <a:srgbClr val="FFFFFF"/>
                </a:solidFill>
                <a:latin typeface="Calibri"/>
              </a:rPr>
              <a:t>Summary — What we will deliver in PI04 2026</a:t>
            </a:r>
          </a:p>
        </p:txBody>
      </p:sp>
      <p:sp>
        <p:nvSpPr>
          <p:cNvPr id="4" name="Rectangle 3"/>
          <p:cNvSpPr/>
          <p:nvPr/>
        </p:nvSpPr>
        <p:spPr>
          <a:xfrm>
            <a:off x="822960" y="1371600"/>
            <a:ext cx="10545775" cy="4572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146304" cy="45720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691640"/>
            <a:ext cx="3383280" cy="640080"/>
          </a:xfrm>
          <a:prstGeom prst="rect">
            <a:avLst/>
          </a:prstGeom>
          <a:noFill/>
        </p:spPr>
        <p:txBody>
          <a:bodyPr wrap="square" anchor="t" lIns="50800" rIns="50800" tIns="25400" bIns="25400">
            <a:spAutoFit/>
          </a:bodyPr>
          <a:lstStyle/>
          <a:p>
            <a:pPr algn="l">
              <a:lnSpc>
                <a:spcPct val="100000"/>
              </a:lnSpc>
            </a:pPr>
            <a:r>
              <a:rPr sz="1500" b="1">
                <a:solidFill>
                  <a:srgbClr val="9FC0FF"/>
                </a:solidFill>
                <a:latin typeface="Calibri"/>
              </a:rPr>
              <a:t>QC Review experience</a:t>
            </a:r>
          </a:p>
        </p:txBody>
      </p:sp>
      <p:sp>
        <p:nvSpPr>
          <p:cNvPr id="7" name="TextBox 6"/>
          <p:cNvSpPr txBox="1"/>
          <p:nvPr/>
        </p:nvSpPr>
        <p:spPr>
          <a:xfrm>
            <a:off x="4663440" y="1691640"/>
            <a:ext cx="6949440" cy="731520"/>
          </a:xfrm>
          <a:prstGeom prst="rect">
            <a:avLst/>
          </a:prstGeom>
          <a:noFill/>
        </p:spPr>
        <p:txBody>
          <a:bodyPr wrap="square" anchor="t" lIns="50800" rIns="50800" tIns="25400" bIns="25400">
            <a:spAutoFit/>
          </a:bodyPr>
          <a:lstStyle/>
          <a:p>
            <a:pPr algn="l">
              <a:lnSpc>
                <a:spcPct val="103000"/>
              </a:lnSpc>
            </a:pPr>
            <a:r>
              <a:rPr sz="1250" b="0">
                <a:solidFill>
                  <a:srgbClr val="E7ECF7"/>
                </a:solidFill>
                <a:latin typeface="Calibri"/>
              </a:rPr>
              <a:t>Redesigned reviewed &amp; un-reviewed detail views, add comments to QC and Proficiency results, and CSV export of QC results.</a:t>
            </a:r>
          </a:p>
        </p:txBody>
      </p:sp>
      <p:sp>
        <p:nvSpPr>
          <p:cNvPr id="8" name="Rectangle 7"/>
          <p:cNvSpPr/>
          <p:nvPr/>
        </p:nvSpPr>
        <p:spPr>
          <a:xfrm>
            <a:off x="822960" y="2487168"/>
            <a:ext cx="146304" cy="45720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441448"/>
            <a:ext cx="3383280" cy="640080"/>
          </a:xfrm>
          <a:prstGeom prst="rect">
            <a:avLst/>
          </a:prstGeom>
          <a:noFill/>
        </p:spPr>
        <p:txBody>
          <a:bodyPr wrap="square" anchor="t" lIns="50800" rIns="50800" tIns="25400" bIns="25400">
            <a:spAutoFit/>
          </a:bodyPr>
          <a:lstStyle/>
          <a:p>
            <a:pPr algn="l">
              <a:lnSpc>
                <a:spcPct val="100000"/>
              </a:lnSpc>
            </a:pPr>
            <a:r>
              <a:rPr sz="1500" b="1">
                <a:solidFill>
                  <a:srgbClr val="9FC0FF"/>
                </a:solidFill>
                <a:latin typeface="Calibri"/>
              </a:rPr>
              <a:t>Smarter alarms</a:t>
            </a:r>
          </a:p>
        </p:txBody>
      </p:sp>
      <p:sp>
        <p:nvSpPr>
          <p:cNvPr id="10" name="TextBox 9"/>
          <p:cNvSpPr txBox="1"/>
          <p:nvPr/>
        </p:nvSpPr>
        <p:spPr>
          <a:xfrm>
            <a:off x="4663440" y="2441448"/>
            <a:ext cx="6949440" cy="731520"/>
          </a:xfrm>
          <a:prstGeom prst="rect">
            <a:avLst/>
          </a:prstGeom>
          <a:noFill/>
        </p:spPr>
        <p:txBody>
          <a:bodyPr wrap="square" anchor="t" lIns="50800" rIns="50800" tIns="25400" bIns="25400">
            <a:spAutoFit/>
          </a:bodyPr>
          <a:lstStyle/>
          <a:p>
            <a:pPr algn="l">
              <a:lnSpc>
                <a:spcPct val="103000"/>
              </a:lnSpc>
            </a:pPr>
            <a:r>
              <a:rPr sz="1250" b="0">
                <a:solidFill>
                  <a:srgbClr val="E7ECF7"/>
                </a:solidFill>
                <a:latin typeface="Calibri"/>
              </a:rPr>
              <a:t>Auto-rejection rule so certain alarm types automatically reject a QC result, reducing manual review load.</a:t>
            </a:r>
          </a:p>
        </p:txBody>
      </p:sp>
      <p:sp>
        <p:nvSpPr>
          <p:cNvPr id="11" name="Rectangle 10"/>
          <p:cNvSpPr/>
          <p:nvPr/>
        </p:nvSpPr>
        <p:spPr>
          <a:xfrm>
            <a:off x="822960" y="3236976"/>
            <a:ext cx="146304" cy="45720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191256"/>
            <a:ext cx="3383280" cy="640080"/>
          </a:xfrm>
          <a:prstGeom prst="rect">
            <a:avLst/>
          </a:prstGeom>
          <a:noFill/>
        </p:spPr>
        <p:txBody>
          <a:bodyPr wrap="square" anchor="t" lIns="50800" rIns="50800" tIns="25400" bIns="25400">
            <a:spAutoFit/>
          </a:bodyPr>
          <a:lstStyle/>
          <a:p>
            <a:pPr algn="l">
              <a:lnSpc>
                <a:spcPct val="100000"/>
              </a:lnSpc>
            </a:pPr>
            <a:r>
              <a:rPr sz="1500" b="1">
                <a:solidFill>
                  <a:srgbClr val="9FC0FF"/>
                </a:solidFill>
                <a:latin typeface="Calibri"/>
              </a:rPr>
              <a:t>Connectivity &amp; compliance</a:t>
            </a:r>
          </a:p>
        </p:txBody>
      </p:sp>
      <p:sp>
        <p:nvSpPr>
          <p:cNvPr id="13" name="TextBox 12"/>
          <p:cNvSpPr txBox="1"/>
          <p:nvPr/>
        </p:nvSpPr>
        <p:spPr>
          <a:xfrm>
            <a:off x="4663440" y="3191256"/>
            <a:ext cx="6949440" cy="731520"/>
          </a:xfrm>
          <a:prstGeom prst="rect">
            <a:avLst/>
          </a:prstGeom>
          <a:noFill/>
        </p:spPr>
        <p:txBody>
          <a:bodyPr wrap="square" anchor="t" lIns="50800" rIns="50800" tIns="25400" bIns="25400">
            <a:spAutoFit/>
          </a:bodyPr>
          <a:lstStyle/>
          <a:p>
            <a:pPr algn="l">
              <a:lnSpc>
                <a:spcPct val="103000"/>
              </a:lnSpc>
            </a:pPr>
            <a:r>
              <a:rPr sz="1250" b="0">
                <a:solidFill>
                  <a:srgbClr val="E7ECF7"/>
                </a:solidFill>
                <a:latin typeface="Calibri"/>
              </a:rPr>
              <a:t>Configurable multi-system connectivity monitoring with custom thresholds and automated alarms for early issue detection.</a:t>
            </a:r>
          </a:p>
        </p:txBody>
      </p:sp>
      <p:sp>
        <p:nvSpPr>
          <p:cNvPr id="14" name="Rectangle 13"/>
          <p:cNvSpPr/>
          <p:nvPr/>
        </p:nvSpPr>
        <p:spPr>
          <a:xfrm>
            <a:off x="822960" y="3986784"/>
            <a:ext cx="146304" cy="45720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3941064"/>
            <a:ext cx="3383280" cy="640080"/>
          </a:xfrm>
          <a:prstGeom prst="rect">
            <a:avLst/>
          </a:prstGeom>
          <a:noFill/>
        </p:spPr>
        <p:txBody>
          <a:bodyPr wrap="square" anchor="t" lIns="50800" rIns="50800" tIns="25400" bIns="25400">
            <a:spAutoFit/>
          </a:bodyPr>
          <a:lstStyle/>
          <a:p>
            <a:pPr algn="l">
              <a:lnSpc>
                <a:spcPct val="100000"/>
              </a:lnSpc>
            </a:pPr>
            <a:r>
              <a:rPr sz="1500" b="1">
                <a:solidFill>
                  <a:srgbClr val="9FC0FF"/>
                </a:solidFill>
                <a:latin typeface="Calibri"/>
              </a:rPr>
              <a:t>Material management evolution</a:t>
            </a:r>
          </a:p>
        </p:txBody>
      </p:sp>
      <p:sp>
        <p:nvSpPr>
          <p:cNvPr id="16" name="TextBox 15"/>
          <p:cNvSpPr txBox="1"/>
          <p:nvPr/>
        </p:nvSpPr>
        <p:spPr>
          <a:xfrm>
            <a:off x="4663440" y="3941064"/>
            <a:ext cx="6949440" cy="731520"/>
          </a:xfrm>
          <a:prstGeom prst="rect">
            <a:avLst/>
          </a:prstGeom>
          <a:noFill/>
        </p:spPr>
        <p:txBody>
          <a:bodyPr wrap="square" anchor="t" lIns="50800" rIns="50800" tIns="25400" bIns="25400">
            <a:spAutoFit/>
          </a:bodyPr>
          <a:lstStyle/>
          <a:p>
            <a:pPr algn="l">
              <a:lnSpc>
                <a:spcPct val="103000"/>
              </a:lnSpc>
            </a:pPr>
            <a:r>
              <a:rPr sz="1250" b="0">
                <a:solidFill>
                  <a:srgbClr val="E7ECF7"/>
                </a:solidFill>
                <a:latin typeface="Calibri"/>
              </a:rPr>
              <a:t>POCM ↔ AMM material data sync, paving the transition to Advanced Material Management without disrupting workflows.</a:t>
            </a:r>
          </a:p>
        </p:txBody>
      </p:sp>
      <p:sp>
        <p:nvSpPr>
          <p:cNvPr id="17" name="Rectangle 16"/>
          <p:cNvSpPr/>
          <p:nvPr/>
        </p:nvSpPr>
        <p:spPr>
          <a:xfrm>
            <a:off x="822960" y="4736592"/>
            <a:ext cx="146304" cy="45720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4690872"/>
            <a:ext cx="3383280" cy="640080"/>
          </a:xfrm>
          <a:prstGeom prst="rect">
            <a:avLst/>
          </a:prstGeom>
          <a:noFill/>
        </p:spPr>
        <p:txBody>
          <a:bodyPr wrap="square" anchor="t" lIns="50800" rIns="50800" tIns="25400" bIns="25400">
            <a:spAutoFit/>
          </a:bodyPr>
          <a:lstStyle/>
          <a:p>
            <a:pPr algn="l">
              <a:lnSpc>
                <a:spcPct val="100000"/>
              </a:lnSpc>
            </a:pPr>
            <a:r>
              <a:rPr sz="1500" b="1">
                <a:solidFill>
                  <a:srgbClr val="9FC0FF"/>
                </a:solidFill>
                <a:latin typeface="Calibri"/>
              </a:rPr>
              <a:t>User assistance</a:t>
            </a:r>
          </a:p>
        </p:txBody>
      </p:sp>
      <p:sp>
        <p:nvSpPr>
          <p:cNvPr id="19" name="TextBox 18"/>
          <p:cNvSpPr txBox="1"/>
          <p:nvPr/>
        </p:nvSpPr>
        <p:spPr>
          <a:xfrm>
            <a:off x="4663440" y="4690872"/>
            <a:ext cx="6949440" cy="731520"/>
          </a:xfrm>
          <a:prstGeom prst="rect">
            <a:avLst/>
          </a:prstGeom>
          <a:noFill/>
        </p:spPr>
        <p:txBody>
          <a:bodyPr wrap="square" anchor="t" lIns="50800" rIns="50800" tIns="25400" bIns="25400">
            <a:spAutoFit/>
          </a:bodyPr>
          <a:lstStyle/>
          <a:p>
            <a:pPr algn="l">
              <a:lnSpc>
                <a:spcPct val="103000"/>
              </a:lnSpc>
            </a:pPr>
            <a:r>
              <a:rPr sz="1250" b="0">
                <a:solidFill>
                  <a:srgbClr val="E7ECF7"/>
                </a:solidFill>
                <a:latin typeface="Calibri"/>
              </a:rPr>
              <a:t>Deep-linking to specific documentation chapters directly from the relevant module.</a:t>
            </a:r>
          </a:p>
        </p:txBody>
      </p:sp>
      <p:sp>
        <p:nvSpPr>
          <p:cNvPr id="20" name="Rectangle 19"/>
          <p:cNvSpPr/>
          <p:nvPr/>
        </p:nvSpPr>
        <p:spPr>
          <a:xfrm>
            <a:off x="822960" y="5486400"/>
            <a:ext cx="146304" cy="457200"/>
          </a:xfrm>
          <a:prstGeom prst="rect">
            <a:avLst/>
          </a:prstGeom>
          <a:solidFill>
            <a:srgbClr val="0B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5440680"/>
            <a:ext cx="3383280" cy="640080"/>
          </a:xfrm>
          <a:prstGeom prst="rect">
            <a:avLst/>
          </a:prstGeom>
          <a:noFill/>
        </p:spPr>
        <p:txBody>
          <a:bodyPr wrap="square" anchor="t" lIns="50800" rIns="50800" tIns="25400" bIns="25400">
            <a:spAutoFit/>
          </a:bodyPr>
          <a:lstStyle/>
          <a:p>
            <a:pPr algn="l">
              <a:lnSpc>
                <a:spcPct val="100000"/>
              </a:lnSpc>
            </a:pPr>
            <a:r>
              <a:rPr sz="1500" b="1">
                <a:solidFill>
                  <a:srgbClr val="9FC0FF"/>
                </a:solidFill>
                <a:latin typeface="Calibri"/>
              </a:rPr>
              <a:t>Licensing / market</a:t>
            </a:r>
          </a:p>
        </p:txBody>
      </p:sp>
      <p:sp>
        <p:nvSpPr>
          <p:cNvPr id="22" name="TextBox 21"/>
          <p:cNvSpPr txBox="1"/>
          <p:nvPr/>
        </p:nvSpPr>
        <p:spPr>
          <a:xfrm>
            <a:off x="4663440" y="5440680"/>
            <a:ext cx="6949440" cy="731520"/>
          </a:xfrm>
          <a:prstGeom prst="rect">
            <a:avLst/>
          </a:prstGeom>
          <a:noFill/>
        </p:spPr>
        <p:txBody>
          <a:bodyPr wrap="square" anchor="t" lIns="50800" rIns="50800" tIns="25400" bIns="25400">
            <a:spAutoFit/>
          </a:bodyPr>
          <a:lstStyle/>
          <a:p>
            <a:pPr algn="l">
              <a:lnSpc>
                <a:spcPct val="103000"/>
              </a:lnSpc>
            </a:pPr>
            <a:r>
              <a:rPr sz="1250" b="0">
                <a:solidFill>
                  <a:srgbClr val="E7ECF7"/>
                </a:solidFill>
                <a:latin typeface="Calibri"/>
              </a:rPr>
              <a:t>Passthrough deployment mode (license-gated) for connectivity-relay use, initially for the China market.</a:t>
            </a:r>
          </a:p>
        </p:txBody>
      </p:sp>
      <p:sp>
        <p:nvSpPr>
          <p:cNvPr id="23" name="TextBox 22"/>
          <p:cNvSpPr txBox="1"/>
          <p:nvPr/>
        </p:nvSpPr>
        <p:spPr>
          <a:xfrm>
            <a:off x="822960" y="6355080"/>
            <a:ext cx="10515600" cy="365760"/>
          </a:xfrm>
          <a:prstGeom prst="rect">
            <a:avLst/>
          </a:prstGeom>
          <a:noFill/>
        </p:spPr>
        <p:txBody>
          <a:bodyPr wrap="square" anchor="t" lIns="50800" rIns="50800" tIns="25400" bIns="25400">
            <a:spAutoFit/>
          </a:bodyPr>
          <a:lstStyle/>
          <a:p>
            <a:pPr algn="l">
              <a:lnSpc>
                <a:spcPct val="100000"/>
              </a:lnSpc>
            </a:pPr>
            <a:r>
              <a:rPr sz="1100" b="0">
                <a:solidFill>
                  <a:srgbClr val="7E8CB0"/>
                </a:solidFill>
                <a:latin typeface="Calibri"/>
              </a:rPr>
              <a:t>10 features · Project NPOCO · Source: Jira PI042026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