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08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0" y="2468880"/>
            <a:ext cx="3200400" cy="508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Donkey Backlog — Status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97480"/>
            <a:ext cx="105156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7D6EC"/>
                </a:solidFill>
                <a:latin typeface="Calibri"/>
              </a:rPr>
              <a:t>Results Management · Smart Reports · Containerization · Migration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2336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FB4D4"/>
                </a:solidFill>
                <a:latin typeface="Calibri"/>
              </a:rPr>
              <a:t>NPOCO project  ·  PI32026  ·  38 theme items  ·  68.5 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Generated by Ona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03504"/>
            <a:ext cx="112471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7D6EC"/>
                </a:solidFill>
                <a:latin typeface="Calibri"/>
              </a:rPr>
              <a:t>Where each theme stands across the Donkey 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4241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0175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Calibri"/>
              </a:rPr>
              <a:t>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280160"/>
            <a:ext cx="914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Calibri"/>
              </a:rPr>
              <a:t>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914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Calibri"/>
              </a:rPr>
              <a:t>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280160"/>
            <a:ext cx="32918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Calibri"/>
              </a:rPr>
              <a:t>% done (SP)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280160"/>
            <a:ext cx="10058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Calibri"/>
              </a:rPr>
              <a:t>Unest.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280160"/>
            <a:ext cx="14630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Calibri"/>
              </a:rPr>
              <a:t>Urgent/High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09344"/>
            <a:ext cx="10607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609344"/>
            <a:ext cx="76200" cy="859536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609344"/>
            <a:ext cx="292608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Results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609344"/>
            <a:ext cx="91440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09344"/>
            <a:ext cx="91440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5.0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920240"/>
            <a:ext cx="2468880" cy="2011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0" y="1920240"/>
            <a:ext cx="1481328" cy="20116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1609344"/>
            <a:ext cx="7772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609344"/>
            <a:ext cx="10058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D12E3C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609344"/>
            <a:ext cx="14630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78608"/>
            <a:ext cx="10607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578608"/>
            <a:ext cx="76200" cy="859536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578608"/>
            <a:ext cx="292608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Smart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578608"/>
            <a:ext cx="91440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578608"/>
            <a:ext cx="91440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8.0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889504"/>
            <a:ext cx="2468880" cy="2011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03520" y="2889504"/>
            <a:ext cx="1851660" cy="20116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2578608"/>
            <a:ext cx="7772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75%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578608"/>
            <a:ext cx="10058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578608"/>
            <a:ext cx="14630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547872"/>
            <a:ext cx="10607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547872"/>
            <a:ext cx="76200" cy="85953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547872"/>
            <a:ext cx="292608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Containerization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547872"/>
            <a:ext cx="91440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547872"/>
            <a:ext cx="91440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24.5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3858768"/>
            <a:ext cx="2468880" cy="2011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03520" y="3858768"/>
            <a:ext cx="1061618" cy="2011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3547872"/>
            <a:ext cx="7772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43%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547872"/>
            <a:ext cx="10058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547872"/>
            <a:ext cx="14630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12E3C"/>
                </a:solidFill>
                <a:latin typeface="Calibr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517136"/>
            <a:ext cx="10607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517136"/>
            <a:ext cx="76200" cy="859536"/>
          </a:xfrm>
          <a:prstGeom prst="rect">
            <a:avLst/>
          </a:prstGeom>
          <a:solidFill>
            <a:srgbClr val="D1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4517136"/>
            <a:ext cx="292608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Migration Workflows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517136"/>
            <a:ext cx="91440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4517136"/>
            <a:ext cx="91440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31.0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4828032"/>
            <a:ext cx="2468880" cy="2011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03520" y="4828032"/>
            <a:ext cx="74066" cy="201168"/>
          </a:xfrm>
          <a:prstGeom prst="rect">
            <a:avLst/>
          </a:prstGeom>
          <a:solidFill>
            <a:srgbClr val="D1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8120" y="4517136"/>
            <a:ext cx="7772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12E3C"/>
                </a:solidFill>
                <a:latin typeface="Calibri"/>
              </a:rPr>
              <a:t>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4517136"/>
            <a:ext cx="10058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D12E3C"/>
                </a:solidFill>
                <a:latin typeface="Calibr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517136"/>
            <a:ext cx="1463040" cy="8595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12E3C"/>
                </a:solidFill>
                <a:latin typeface="Calibri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486400"/>
            <a:ext cx="10607040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5486400"/>
            <a:ext cx="29260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5486400"/>
            <a:ext cx="9144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5486400"/>
            <a:ext cx="9144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68.5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5486400"/>
            <a:ext cx="32004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30% done overall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5486400"/>
            <a:ext cx="10058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5486400"/>
            <a:ext cx="14630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Donkey POC — Backlog status by theme · NPOCO · PI32026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6455664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200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200400" cy="635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834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A4A"/>
                </a:solidFill>
                <a:latin typeface="Calibri"/>
              </a:rPr>
              <a:t>Progress (by SP)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83464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700784" cy="27432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A8A04"/>
                </a:solidFill>
                <a:latin typeface="Calibri"/>
              </a:rPr>
              <a:t>60% </a:t>
            </a:r>
            <a:r>
              <a:rPr sz="1300" b="0">
                <a:solidFill>
                  <a:srgbClr val="64748B"/>
                </a:solidFill>
                <a:latin typeface="Calibri"/>
              </a:rP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Story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9184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Unestimated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65760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12E3C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Urgent /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2336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A8A04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280160"/>
            <a:ext cx="25146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9592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6A34A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NPOCO-26755  </a:t>
            </a:r>
            <a:r>
              <a:rPr sz="900" b="0">
                <a:solidFill>
                  <a:srgbClr val="64748B"/>
                </a:solidFill>
                <a:latin typeface="Calibri"/>
              </a:rPr>
              <a:t>IRIS→RabbitMQ bridge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6A34A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NPOCO-27464  </a:t>
            </a:r>
            <a:r>
              <a:rPr sz="900" b="0">
                <a:solidFill>
                  <a:srgbClr val="64748B"/>
                </a:solidFill>
                <a:latin typeface="Calibri"/>
              </a:rPr>
              <a:t>QC ACK to host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1280160"/>
            <a:ext cx="2514600" cy="384048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5CA8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NPOCO-23174  </a:t>
            </a:r>
            <a:r>
              <a:rPr sz="900" b="0">
                <a:solidFill>
                  <a:srgbClr val="64748B"/>
                </a:solidFill>
                <a:latin typeface="Calibri"/>
              </a:rPr>
              <a:t>Swipe blocks copy (Urgent)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280160"/>
            <a:ext cx="2514600" cy="38404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TO DO / PARKED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NPOCO-27648  </a:t>
            </a:r>
            <a:r>
              <a:rPr sz="900" b="0">
                <a:solidFill>
                  <a:srgbClr val="64748B"/>
                </a:solidFill>
                <a:latin typeface="Calibri"/>
              </a:rPr>
              <a:t>QC autoreject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NPOCO-27649  </a:t>
            </a:r>
            <a:r>
              <a:rPr sz="900" b="0">
                <a:solidFill>
                  <a:srgbClr val="64748B"/>
                </a:solidFill>
                <a:latin typeface="Calibri"/>
              </a:rPr>
              <a:t>QC view improv.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NPOCO-27647  </a:t>
            </a:r>
            <a:r>
              <a:rPr sz="900" b="0">
                <a:solidFill>
                  <a:srgbClr val="64748B"/>
                </a:solidFill>
                <a:latin typeface="Calibri"/>
              </a:rPr>
              <a:t>QC improvements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NPOCO-27839  </a:t>
            </a:r>
            <a:r>
              <a:rPr sz="900" b="0">
                <a:solidFill>
                  <a:srgbClr val="64748B"/>
                </a:solidFill>
                <a:latin typeface="Calibri"/>
              </a:rPr>
              <a:t>RM integration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NPOCO-27906  </a:t>
            </a:r>
            <a:r>
              <a:rPr sz="900" b="0">
                <a:solidFill>
                  <a:srgbClr val="64748B"/>
                </a:solidFill>
                <a:latin typeface="Calibri"/>
              </a:rPr>
              <a:t>RM integration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NPOCO-27031  </a:t>
            </a:r>
            <a:r>
              <a:rPr sz="900" b="0">
                <a:solidFill>
                  <a:srgbClr val="64748B"/>
                </a:solidFill>
                <a:latin typeface="Calibri"/>
              </a:rPr>
              <a:t>RM spike (High)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11292840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43600"/>
            <a:ext cx="11064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⚠ </a:t>
            </a:r>
            <a:r>
              <a:rPr sz="1100" b="0">
                <a:solidFill>
                  <a:srgbClr val="1E293B"/>
                </a:solidFill>
                <a:latin typeface="Calibri"/>
              </a:rPr>
              <a:t>Delivered work is event plumbing. All future QC/RM functionality is unestimated and parked in PI42026.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Donkey POC — Backlog status by theme · NPOCO · PI32026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55664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Smart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200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200400" cy="635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834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A4A"/>
                </a:solidFill>
                <a:latin typeface="Calibri"/>
              </a:rPr>
              <a:t>Progress (by SP)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83464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2125980" cy="27432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A8A04"/>
                </a:solidFill>
                <a:latin typeface="Calibri"/>
              </a:rPr>
              <a:t>75% </a:t>
            </a:r>
            <a:r>
              <a:rPr sz="1300" b="0">
                <a:solidFill>
                  <a:srgbClr val="64748B"/>
                </a:solidFill>
                <a:latin typeface="Calibri"/>
              </a:rP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Story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9184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8.0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Unestimated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65760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A8A0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Urgent /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2336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A8A04"/>
                </a:solidFill>
                <a:latin typeface="Calibri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280160"/>
            <a:ext cx="25146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9592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6A34A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NPOCO-27600  </a:t>
            </a:r>
            <a:r>
              <a:rPr sz="900" b="0">
                <a:solidFill>
                  <a:srgbClr val="64748B"/>
                </a:solidFill>
                <a:latin typeface="Calibri"/>
              </a:rPr>
              <a:t>iText spike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6A34A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NPOCO-27731  </a:t>
            </a:r>
            <a:r>
              <a:rPr sz="900" b="0">
                <a:solidFill>
                  <a:srgbClr val="64748B"/>
                </a:solidFill>
                <a:latin typeface="Calibri"/>
              </a:rPr>
              <a:t>Replace PDF libs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1280160"/>
            <a:ext cx="2514600" cy="384048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280160"/>
            <a:ext cx="2514600" cy="38404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TO DO / PARKED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NPOCO-27646  </a:t>
            </a:r>
            <a:r>
              <a:rPr sz="900" b="0">
                <a:solidFill>
                  <a:srgbClr val="64748B"/>
                </a:solidFill>
                <a:latin typeface="Calibri"/>
              </a:rPr>
              <a:t>Smart reports MVP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NPOCO-27657  </a:t>
            </a:r>
            <a:r>
              <a:rPr sz="900" b="0">
                <a:solidFill>
                  <a:srgbClr val="64748B"/>
                </a:solidFill>
                <a:latin typeface="Calibri"/>
              </a:rPr>
              <a:t>Rebuild w/ nQC prompts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NPOCO-27832  </a:t>
            </a:r>
            <a:r>
              <a:rPr sz="900" b="0">
                <a:solidFill>
                  <a:srgbClr val="64748B"/>
                </a:solidFill>
                <a:latin typeface="Calibri"/>
              </a:rPr>
              <a:t>Config in POCM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NPOCO-27297  </a:t>
            </a:r>
            <a:r>
              <a:rPr sz="900" b="0">
                <a:solidFill>
                  <a:srgbClr val="64748B"/>
                </a:solidFill>
                <a:latin typeface="Calibri"/>
              </a:rPr>
              <a:t>AI patient-data spike (High)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11292840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43600"/>
            <a:ext cx="11064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⚠ </a:t>
            </a:r>
            <a:r>
              <a:rPr sz="1100" b="0">
                <a:solidFill>
                  <a:srgbClr val="1E293B"/>
                </a:solidFill>
                <a:latin typeface="Calibri"/>
              </a:rPr>
              <a:t>75% is misleading: only PDF-library groundwork is done. The actual Smart Reports product (MVP, nQC) is all unestimated and parked.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Donkey POC — Backlog status by theme · NPOCO · PI32026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55664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Containerization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200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200400" cy="635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834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A4A"/>
                </a:solidFill>
                <a:latin typeface="Calibri"/>
              </a:rPr>
              <a:t>Progress (by SP)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83464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218895" cy="2743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A34A"/>
                </a:solidFill>
                <a:latin typeface="Calibri"/>
              </a:rPr>
              <a:t>43% </a:t>
            </a:r>
            <a:r>
              <a:rPr sz="1300" b="0">
                <a:solidFill>
                  <a:srgbClr val="64748B"/>
                </a:solidFill>
                <a:latin typeface="Calibri"/>
              </a:rP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Story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9184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24.5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Unestimated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65760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Urgent /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2336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A8A04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280160"/>
            <a:ext cx="25146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9592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6A34A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NPOCO-27265  </a:t>
            </a:r>
            <a:r>
              <a:rPr sz="900" b="0">
                <a:solidFill>
                  <a:srgbClr val="64748B"/>
                </a:solidFill>
                <a:latin typeface="Calibri"/>
              </a:rPr>
              <a:t>Adapter skeleton 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6A34A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NPOCO-27311  </a:t>
            </a:r>
            <a:r>
              <a:rPr sz="900" b="0">
                <a:solidFill>
                  <a:srgbClr val="64748B"/>
                </a:solidFill>
                <a:latin typeface="Calibri"/>
              </a:rPr>
              <a:t>DDA in docker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6A34A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NPOCO-27312  </a:t>
            </a:r>
            <a:r>
              <a:rPr sz="900" b="0">
                <a:solidFill>
                  <a:srgbClr val="64748B"/>
                </a:solidFill>
                <a:latin typeface="Calibri"/>
              </a:rPr>
              <a:t>IRIS foundation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6A34A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NPOCO-27495  </a:t>
            </a:r>
            <a:r>
              <a:rPr sz="900" b="0">
                <a:solidFill>
                  <a:srgbClr val="64748B"/>
                </a:solidFill>
                <a:latin typeface="Calibri"/>
              </a:rPr>
              <a:t>Knowledge transfer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1280160"/>
            <a:ext cx="2514600" cy="384048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5CA8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NPOCO-27266  </a:t>
            </a:r>
            <a:r>
              <a:rPr sz="900" b="0">
                <a:solidFill>
                  <a:srgbClr val="64748B"/>
                </a:solidFill>
                <a:latin typeface="Calibri"/>
              </a:rPr>
              <a:t>Adapter skeleton II (Urgent)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280160"/>
            <a:ext cx="2514600" cy="38404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TO DO / PARKED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NPOCO-26532  </a:t>
            </a:r>
            <a:r>
              <a:rPr sz="900" b="0">
                <a:solidFill>
                  <a:srgbClr val="64748B"/>
                </a:solidFill>
                <a:latin typeface="Calibri"/>
              </a:rPr>
              <a:t>Gateway part II (High)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NPOCO-27033  </a:t>
            </a:r>
            <a:r>
              <a:rPr sz="900" b="0">
                <a:solidFill>
                  <a:srgbClr val="64748B"/>
                </a:solidFill>
                <a:latin typeface="Calibri"/>
              </a:rPr>
              <a:t>Gateway part III (High)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NPOCO-27034  </a:t>
            </a:r>
            <a:r>
              <a:rPr sz="900" b="0">
                <a:solidFill>
                  <a:srgbClr val="64748B"/>
                </a:solidFill>
                <a:latin typeface="Calibri"/>
              </a:rPr>
              <a:t>Gateway part IV (High)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11292840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43600"/>
            <a:ext cx="11064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⚠ </a:t>
            </a:r>
            <a:r>
              <a:rPr sz="1100" b="0">
                <a:solidFill>
                  <a:srgbClr val="1E293B"/>
                </a:solidFill>
                <a:latin typeface="Calibri"/>
              </a:rPr>
              <a:t>Most advanced in real delivery: Adapter, DDA and IRIS containerized. The Gateway containerization stream is still fully open.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Donkey POC — Backlog status by theme · NPOCO · PI32026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55664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1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Migration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200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200400" cy="63500"/>
          </a:xfrm>
          <a:prstGeom prst="rect">
            <a:avLst/>
          </a:prstGeom>
          <a:solidFill>
            <a:srgbClr val="D1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834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A4A"/>
                </a:solidFill>
                <a:latin typeface="Calibri"/>
              </a:rPr>
              <a:t>Progress (by SP)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83464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85039" cy="274320"/>
          </a:xfrm>
          <a:prstGeom prst="rect">
            <a:avLst/>
          </a:prstGeom>
          <a:solidFill>
            <a:srgbClr val="D1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D12E3C"/>
                </a:solidFill>
                <a:latin typeface="Calibri"/>
              </a:rPr>
              <a:t>3% </a:t>
            </a:r>
            <a:r>
              <a:rPr sz="1300" b="0">
                <a:solidFill>
                  <a:srgbClr val="64748B"/>
                </a:solidFill>
                <a:latin typeface="Calibri"/>
              </a:rP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Story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9184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31.0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Unestimated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65760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12E3C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2011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Urgent /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23360"/>
            <a:ext cx="10058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12E3C"/>
                </a:solidFill>
                <a:latin typeface="Calibri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280160"/>
            <a:ext cx="25146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9592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6A34A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NPOCO-26894  </a:t>
            </a:r>
            <a:r>
              <a:rPr sz="900" b="0">
                <a:solidFill>
                  <a:srgbClr val="64748B"/>
                </a:solidFill>
                <a:latin typeface="Calibri"/>
              </a:rPr>
              <a:t>IRIS 2024.1.6 upgrade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1280160"/>
            <a:ext cx="2514600" cy="384048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5CA8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NPOCO-27469  </a:t>
            </a:r>
            <a:r>
              <a:rPr sz="900" b="0">
                <a:solidFill>
                  <a:srgbClr val="64748B"/>
                </a:solidFill>
                <a:latin typeface="Calibri"/>
              </a:rPr>
              <a:t>Comments endpoint (Urgent)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280160"/>
            <a:ext cx="2514600" cy="38404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280160"/>
            <a:ext cx="2514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TO DO / PARKED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682496"/>
            <a:ext cx="251460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1783080"/>
            <a:ext cx="2295144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NPOCO-27267  </a:t>
            </a:r>
            <a:r>
              <a:rPr sz="900" b="0">
                <a:solidFill>
                  <a:srgbClr val="64748B"/>
                </a:solidFill>
                <a:latin typeface="Calibri"/>
              </a:rPr>
              <a:t>Org/Pract. migr. I (Urgent)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NPOCO-27268  </a:t>
            </a:r>
            <a:r>
              <a:rPr sz="900" b="0">
                <a:solidFill>
                  <a:srgbClr val="64748B"/>
                </a:solidFill>
                <a:latin typeface="Calibri"/>
              </a:rPr>
              <a:t>migr. II (Urgent)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NPOCO-27269  </a:t>
            </a:r>
            <a:r>
              <a:rPr sz="900" b="0">
                <a:solidFill>
                  <a:srgbClr val="64748B"/>
                </a:solidFill>
                <a:latin typeface="Calibri"/>
              </a:rPr>
              <a:t>migr. III (Urgent)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NPOCO-27270  </a:t>
            </a:r>
            <a:r>
              <a:rPr sz="900" b="0">
                <a:solidFill>
                  <a:srgbClr val="64748B"/>
                </a:solidFill>
                <a:latin typeface="Calibri"/>
              </a:rPr>
              <a:t>migr. IV (Urgent)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NPOCO-26419  </a:t>
            </a:r>
            <a:r>
              <a:rPr sz="900" b="0">
                <a:solidFill>
                  <a:srgbClr val="64748B"/>
                </a:solidFill>
                <a:latin typeface="Calibri"/>
              </a:rPr>
              <a:t>Win 2025 compat (8 SP)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NPOCO-27638..42  </a:t>
            </a:r>
            <a:r>
              <a:rPr sz="900" b="0">
                <a:solidFill>
                  <a:srgbClr val="64748B"/>
                </a:solidFill>
                <a:latin typeface="Calibri"/>
              </a:rPr>
              <a:t>Workflow parts I–V (parked)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• </a:t>
            </a:r>
            <a:r>
              <a:rPr sz="1000" b="1">
                <a:solidFill>
                  <a:srgbClr val="1E293B"/>
                </a:solidFill>
                <a:latin typeface="Calibri"/>
              </a:rPr>
              <a:t>NPOCO-27739  </a:t>
            </a:r>
            <a:r>
              <a:rPr sz="900" b="0">
                <a:solidFill>
                  <a:srgbClr val="64748B"/>
                </a:solidFill>
                <a:latin typeface="Calibri"/>
              </a:rPr>
              <a:t>One-time comments migr.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11292840" cy="3840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43600"/>
            <a:ext cx="11064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12E3C"/>
                </a:solidFill>
                <a:latin typeface="Calibri"/>
              </a:rPr>
              <a:t>⚠ </a:t>
            </a:r>
            <a:r>
              <a:rPr sz="1100" b="0">
                <a:solidFill>
                  <a:srgbClr val="1E293B"/>
                </a:solidFill>
                <a:latin typeface="Calibri"/>
              </a:rPr>
              <a:t>Highest risk: 31 SP, only 3% done, 6 Urgent items open, 7 unestimated, and the whole 'parts I–V' series parked in PI42026.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Donkey POC — Backlog status by theme · NPOCO · PI32026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55664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Key Takeaways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92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6200" cy="932688"/>
          </a:xfrm>
          <a:prstGeom prst="rect">
            <a:avLst/>
          </a:prstGeom>
          <a:solidFill>
            <a:srgbClr val="D1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10881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D12E3C"/>
                </a:solidFill>
                <a:latin typeface="Calibri"/>
              </a:rPr>
              <a:t>🔴  Migration Workflows = top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31 SP, only 3% done, 6 Urgent items open, 7 unestimated. The 'parts I–V' series is parked in the next PI. This is the bottleneck.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4288"/>
            <a:ext cx="11292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04288"/>
            <a:ext cx="76200" cy="93268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10881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🟢  Containerization = most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Adapter, DDA and IRIS are containerized. Remaining work is the Gateway stream (parts II–IV, High).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28416"/>
            <a:ext cx="11292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28416"/>
            <a:ext cx="76200" cy="93268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881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A8A04"/>
                </a:solidFill>
                <a:latin typeface="Calibri"/>
              </a:rPr>
              <a:t>⚠  % done is misleading for Reports &amp; 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67328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What shipped is infrastructure (PDF libs, event bridge), not product. The real features are unestimated.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52544"/>
            <a:ext cx="11292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52544"/>
            <a:ext cx="76200" cy="93268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25696"/>
            <a:ext cx="10881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2A4A"/>
                </a:solidFill>
                <a:latin typeface="Calibri"/>
              </a:rPr>
              <a:t>📊  Estimation gap is 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9145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17 of 38 items (45%) have no story points, concentrated in Migration and parked features. Next-PI planning is at risk until estimated.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76672"/>
            <a:ext cx="112928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76672"/>
            <a:ext cx="76200" cy="93268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49824"/>
            <a:ext cx="10881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4748B"/>
                </a:solidFill>
                <a:latin typeface="Calibri"/>
              </a:rPr>
              <a:t>🅿  Parking lot = spillover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15584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PI42026 parking lot: 4 Migration parts, 3 Results Mgmt, 2 Smart Reports, 1 Containerization — none prioritized yet.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Donkey POC — Backlog status by theme · NPOCO · PI32026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55664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D1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Open Urgent Items — Action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03504"/>
            <a:ext cx="112471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7D6EC"/>
                </a:solidFill>
                <a:latin typeface="Calibri"/>
              </a:rPr>
              <a:t>13 Urgent/High still open across themes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8288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Calibri"/>
              </a:rPr>
              <a:t>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234440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Calibri"/>
              </a:rPr>
              <a:t>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34440"/>
            <a:ext cx="55778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Calibr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234440"/>
            <a:ext cx="150876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45336"/>
            <a:ext cx="11292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4533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NPOCO-23174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54533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Results Mgmt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54533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Swipe gesture blocks text copy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54533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5CA8"/>
                </a:solidFill>
                <a:latin typeface="Calibri"/>
              </a:rPr>
              <a:t>In 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11096"/>
            <a:ext cx="1129284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1109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NPOCO-27266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191109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Containerization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191109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Adapter skeleton part 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91109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5CA8"/>
                </a:solidFill>
                <a:latin typeface="Calibri"/>
              </a:rPr>
              <a:t>In Progress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76856"/>
            <a:ext cx="11292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7685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NPOCO-27469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27685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Migration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27685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Comments endpoint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27685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5CA8"/>
                </a:solidFill>
                <a:latin typeface="Calibri"/>
              </a:rPr>
              <a:t>In Progress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42616"/>
            <a:ext cx="1129284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64261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NPOCO-27267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264261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Migration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264261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Org/Practitioner migration part 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64261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08376"/>
            <a:ext cx="11292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00837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NPOCO-27268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300837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Migration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300837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Org/Practitioner migration part II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300837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74136"/>
            <a:ext cx="1129284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37413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NPOCO-27269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337413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Migration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337413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Org/Practitioner migration part III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337413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739896"/>
            <a:ext cx="11292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73989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NPOCO-27270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373989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Migration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373989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Org/Practitioner migration part IV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373989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105656"/>
            <a:ext cx="1129284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10565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NPOCO-26419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720" y="410565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Migration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410565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Windows 2025 compatibility (8 SP, unassigned)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410565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71416"/>
            <a:ext cx="11292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47141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NPOCO-26532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447141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Containerization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9160" y="447141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Gateway containerization part II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447141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37176"/>
            <a:ext cx="1129284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83717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NPOCO-27033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31720" y="483717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Containerization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483717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Gateway containerization part III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483717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202936"/>
            <a:ext cx="11292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520293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NPOCO-27034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1720" y="520293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Containerization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60" y="520293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Gateway containerization part IV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520293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568696"/>
            <a:ext cx="1129284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556869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NPOCO-27031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31720" y="556869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Results Mgmt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09160" y="556869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Results Management spike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1280" y="556869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934456"/>
            <a:ext cx="11292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934456"/>
            <a:ext cx="18288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NPOCO-27297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31720" y="5934456"/>
            <a:ext cx="23774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Smart Reports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09160" y="5934456"/>
            <a:ext cx="55778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AI expose patient data spike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41280" y="5934456"/>
            <a:ext cx="1508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Donkey POC — Backlog status by theme · NPOCO · PI32026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47120" y="6455664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