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BF5"/>
                </a:solidFill>
              </a:defRPr>
            </a:pPr>
            <a:r>
              <a:t>Next PI Planning — Parking 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nPOCOs / 2026 Parking Lot  |  25 items to be refined and planned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274320"/>
            <a:ext cx="914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292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566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567160" y="274320"/>
            <a:ext cx="914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67160" y="292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67160" y="566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0" y="274320"/>
            <a:ext cx="914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0" y="292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0" y="566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Stories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70280" y="274320"/>
            <a:ext cx="914400" cy="594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70280" y="292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84FC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70280" y="566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</a:defRPr>
            </a:pPr>
            <a:r>
              <a:t>Spikes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051560"/>
            <a:ext cx="4434840" cy="2880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051560"/>
            <a:ext cx="443484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16128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BF5"/>
                </a:solidFill>
              </a:defRPr>
            </a:pPr>
            <a:r>
              <a:t>UI/UX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188719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0A5FA"/>
                </a:solidFill>
              </a:defRPr>
            </a:pPr>
            <a:r>
              <a:t>6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50876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60A5FA"/>
                </a:solidFill>
              </a:defRPr>
            </a:pPr>
            <a:r>
              <a:t>NPOCO-26227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Improvements in content requests to Fluid Topics</a:t>
            </a:r>
          </a:p>
          <a:p>
            <a:pPr>
              <a:spcAft>
                <a:spcPts val="0"/>
              </a:spcAft>
              <a:defRPr sz="900" b="1">
                <a:solidFill>
                  <a:srgbClr val="60A5FA"/>
                </a:solidFill>
              </a:defRPr>
            </a:pPr>
            <a:r>
              <a:t>NPOCO-26095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Grey-out AOM informative banner</a:t>
            </a:r>
          </a:p>
          <a:p>
            <a:pPr>
              <a:spcAft>
                <a:spcPts val="0"/>
              </a:spcAft>
              <a:defRPr sz="900" b="1">
                <a:solidFill>
                  <a:srgbClr val="60A5FA"/>
                </a:solidFill>
              </a:defRPr>
            </a:pPr>
            <a:r>
              <a:t>NPOCO-25963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[QC module] - UI enhancement</a:t>
            </a:r>
          </a:p>
          <a:p>
            <a:pPr>
              <a:spcAft>
                <a:spcPts val="0"/>
              </a:spcAft>
              <a:defRPr sz="900" b="1">
                <a:solidFill>
                  <a:srgbClr val="60A5FA"/>
                </a:solidFill>
              </a:defRPr>
            </a:pPr>
            <a:r>
              <a:t>NPOCO-25335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UX enhancements - Formative Evaluation Dossiers</a:t>
            </a:r>
          </a:p>
          <a:p>
            <a:pPr>
              <a:spcAft>
                <a:spcPts val="0"/>
              </a:spcAft>
              <a:defRPr sz="900" b="1">
                <a:solidFill>
                  <a:srgbClr val="60A5FA"/>
                </a:solidFill>
              </a:defRPr>
            </a:pPr>
            <a:r>
              <a:t>NPOCO-25813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Device connected icon - align with cobas click</a:t>
            </a:r>
          </a:p>
          <a:p>
            <a:pPr>
              <a:spcAft>
                <a:spcPts val="0"/>
              </a:spcAft>
              <a:defRPr sz="900" b="1">
                <a:solidFill>
                  <a:srgbClr val="60A5FA"/>
                </a:solidFill>
              </a:defRPr>
            </a:pPr>
            <a:r>
              <a:t>NPOCO-26673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Changes on UA (Fluid Topics)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3207" y="1051560"/>
            <a:ext cx="4434840" cy="2880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3207" y="1051560"/>
            <a:ext cx="443484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116128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BF5"/>
                </a:solidFill>
              </a:defRPr>
            </a:pPr>
            <a:r>
              <a:t>Localization &amp; Strings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7" y="1188719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2DD4BF"/>
                </a:solidFill>
              </a:defRPr>
            </a:pPr>
            <a:r>
              <a:t>4 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150876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2DD4BF"/>
                </a:solidFill>
              </a:defRPr>
            </a:pPr>
            <a:r>
              <a:t>NPOCO-25636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Remediate String Concatenation Issues in UI</a:t>
            </a:r>
          </a:p>
          <a:p>
            <a:pPr>
              <a:spcAft>
                <a:spcPts val="0"/>
              </a:spcAft>
              <a:defRPr sz="900" b="1">
                <a:solidFill>
                  <a:srgbClr val="2DD4BF"/>
                </a:solidFill>
              </a:defRPr>
            </a:pPr>
            <a:r>
              <a:t>NPOCO-25637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Enable Repositionable Placeholders in Strings</a:t>
            </a:r>
          </a:p>
          <a:p>
            <a:pPr>
              <a:spcAft>
                <a:spcPts val="0"/>
              </a:spcAft>
              <a:defRPr sz="900" b="1">
                <a:solidFill>
                  <a:srgbClr val="2DD4BF"/>
                </a:solidFill>
              </a:defRPr>
            </a:pPr>
            <a:r>
              <a:t>NPOCO-25638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Standardize Placeholder Formats &amp; Uniqueness</a:t>
            </a:r>
          </a:p>
          <a:p>
            <a:pPr>
              <a:spcAft>
                <a:spcPts val="0"/>
              </a:spcAft>
              <a:defRPr sz="900" b="1">
                <a:solidFill>
                  <a:srgbClr val="2DD4BF"/>
                </a:solidFill>
              </a:defRPr>
            </a:pPr>
            <a:r>
              <a:t>NPOCO-25846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Remove concatenated strings for LP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5" y="1051560"/>
            <a:ext cx="4434840" cy="2880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29215" y="1051560"/>
            <a:ext cx="44348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66376" y="116128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BF5"/>
                </a:solidFill>
              </a:defRPr>
            </a:pPr>
            <a:r>
              <a:t>Device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49655" y="1188719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4D399"/>
                </a:solidFill>
              </a:defRPr>
            </a:pPr>
            <a:r>
              <a:t>5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150876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34D399"/>
                </a:solidFill>
              </a:defRPr>
            </a:pPr>
            <a:r>
              <a:t>NPOCO-25744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Update devices view - remove secondary tab</a:t>
            </a:r>
          </a:p>
          <a:p>
            <a:pPr>
              <a:spcAft>
                <a:spcPts val="0"/>
              </a:spcAft>
              <a:defRPr sz="900" b="1">
                <a:solidFill>
                  <a:srgbClr val="34D399"/>
                </a:solidFill>
              </a:defRPr>
            </a:pPr>
            <a:r>
              <a:t>NPOCO-26237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EAP assignment on CSV file (import/export)</a:t>
            </a:r>
          </a:p>
          <a:p>
            <a:pPr>
              <a:spcAft>
                <a:spcPts val="0"/>
              </a:spcAft>
              <a:defRPr sz="900" b="1">
                <a:solidFill>
                  <a:srgbClr val="34D399"/>
                </a:solidFill>
              </a:defRPr>
            </a:pPr>
            <a:r>
              <a:t>NPOCO-26326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QR code cobas pulse with unassigned devices</a:t>
            </a:r>
          </a:p>
          <a:p>
            <a:pPr>
              <a:spcAft>
                <a:spcPts val="0"/>
              </a:spcAft>
              <a:defRPr sz="900" b="1">
                <a:solidFill>
                  <a:srgbClr val="34D399"/>
                </a:solidFill>
              </a:defRPr>
            </a:pPr>
            <a:r>
              <a:t>NPOCO-26048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[QC module] - Device type filter update</a:t>
            </a:r>
          </a:p>
          <a:p>
            <a:pPr>
              <a:spcAft>
                <a:spcPts val="0"/>
              </a:spcAft>
              <a:defRPr sz="900" b="1">
                <a:solidFill>
                  <a:srgbClr val="34D399"/>
                </a:solidFill>
              </a:defRPr>
            </a:pPr>
            <a:r>
              <a:t>NPOCO-26654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Device Creation popup - include contract limits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114800"/>
            <a:ext cx="4434840" cy="2880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4434840" cy="3657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22452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BF5"/>
                </a:solidFill>
              </a:defRPr>
            </a:pPr>
            <a:r>
              <a:t>QC &amp; Materials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251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923C"/>
                </a:solidFill>
              </a:defRPr>
            </a:pPr>
            <a:r>
              <a:t>2 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57200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FB923C"/>
                </a:solidFill>
              </a:defRPr>
            </a:pPr>
            <a:r>
              <a:t>NPOCO-26324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Track and Display Lot Usage Duration</a:t>
            </a:r>
          </a:p>
          <a:p>
            <a:pPr>
              <a:spcAft>
                <a:spcPts val="0"/>
              </a:spcAft>
              <a:defRPr sz="900" b="1">
                <a:solidFill>
                  <a:srgbClr val="FB923C"/>
                </a:solidFill>
              </a:defRPr>
            </a:pPr>
            <a:r>
              <a:t>NPOCO-25516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New material number &amp; GTINs on cobas b 123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93207" y="4114800"/>
            <a:ext cx="4434840" cy="2880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93207" y="4114800"/>
            <a:ext cx="4434840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422452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BF5"/>
                </a:solidFill>
              </a:defRPr>
            </a:pPr>
            <a:r>
              <a:t>Spikes &amp; Technical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7" y="4251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C084FC"/>
                </a:solidFill>
              </a:defRPr>
            </a:pPr>
            <a:r>
              <a:t>3 items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457200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C084FC"/>
                </a:solidFill>
              </a:defRPr>
            </a:pPr>
            <a:r>
              <a:t>NPOCO-25837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[SPIKE] Adapter Migration to .NET</a:t>
            </a:r>
          </a:p>
          <a:p>
            <a:pPr>
              <a:spcAft>
                <a:spcPts val="0"/>
              </a:spcAft>
              <a:defRPr sz="900" b="1">
                <a:solidFill>
                  <a:srgbClr val="C084FC"/>
                </a:solidFill>
              </a:defRPr>
            </a:pPr>
            <a:r>
              <a:t>NPOCO-24734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[SPIKE] New QC report by material</a:t>
            </a:r>
          </a:p>
          <a:p>
            <a:pPr>
              <a:spcAft>
                <a:spcPts val="0"/>
              </a:spcAft>
              <a:defRPr sz="900" b="1">
                <a:solidFill>
                  <a:srgbClr val="C084FC"/>
                </a:solidFill>
              </a:defRPr>
            </a:pPr>
            <a:r>
              <a:t>NPOCO-24733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[SPIKE] Side menu in navify portal for UA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29215" y="4114800"/>
            <a:ext cx="4434840" cy="2880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74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729215" y="4114800"/>
            <a:ext cx="44348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66376" y="422452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EBF5"/>
                </a:solidFill>
              </a:defRPr>
            </a:pPr>
            <a:r>
              <a:t>Next PI Candidates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49655" y="4251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FBBF24"/>
                </a:solidFill>
              </a:defRPr>
            </a:pPr>
            <a:r>
              <a:t>3 items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66376" y="4572000"/>
            <a:ext cx="4160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00" b="1">
                <a:solidFill>
                  <a:srgbClr val="FBBF24"/>
                </a:solidFill>
              </a:defRPr>
            </a:pPr>
            <a:r>
              <a:t>NPOCO-25515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UA offline version</a:t>
            </a:r>
          </a:p>
          <a:p>
            <a:pPr>
              <a:spcAft>
                <a:spcPts val="0"/>
              </a:spcAft>
              <a:defRPr sz="900" b="1">
                <a:solidFill>
                  <a:srgbClr val="FBBF24"/>
                </a:solidFill>
              </a:defRPr>
            </a:pPr>
            <a:r>
              <a:t>NPOCO-25516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New material number &amp; GTINs on cobas b 123</a:t>
            </a:r>
          </a:p>
          <a:p>
            <a:pPr>
              <a:spcAft>
                <a:spcPts val="0"/>
              </a:spcAft>
              <a:defRPr sz="900" b="1">
                <a:solidFill>
                  <a:srgbClr val="FBBF24"/>
                </a:solidFill>
              </a:defRPr>
            </a:pPr>
            <a:r>
              <a:t>NPOCO-25517</a:t>
            </a:r>
          </a:p>
          <a:p>
            <a:pPr>
              <a:spcAft>
                <a:spcPts val="500"/>
              </a:spcAft>
              <a:defRPr sz="900" b="0">
                <a:solidFill>
                  <a:srgbClr val="94A3B8"/>
                </a:solidFill>
              </a:defRPr>
            </a:pPr>
            <a:r>
              <a:t>  ADM in prod - Hybrid model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7132320"/>
            <a:ext cx="13716000" cy="685800"/>
          </a:xfrm>
          <a:prstGeom prst="roundRect">
            <a:avLst>
              <a:gd name="adj" fmla="val 5000"/>
            </a:avLst>
          </a:prstGeom>
          <a:solidFill>
            <a:srgbClr val="191E30"/>
          </a:solidFill>
          <a:ln w="12700">
            <a:solidFill>
              <a:srgbClr val="3C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7178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BF5"/>
                </a:solidFill>
              </a:defRPr>
            </a:pPr>
            <a:r>
              <a:t>Key Observations for PI Planning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738835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</a:defRPr>
            </a:pPr>
            <a:r>
              <a:t>92% unassigned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7552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Assignment needed</a:t>
            </a:r>
            <a:br/>
            <a:r>
              <a:t>during PI planning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738835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</a:defRPr>
            </a:pPr>
            <a:r>
              <a:t>88% no priority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7552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Prioritization session</a:t>
            </a:r>
            <a:br/>
            <a:r>
              <a:t>required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738835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</a:defRPr>
            </a:pPr>
            <a:r>
              <a:t>72% in Created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7552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Refinement backlog</a:t>
            </a:r>
            <a:br/>
            <a:r>
              <a:t>is significant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738835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</a:defRPr>
            </a:pPr>
            <a:r>
              <a:t>4 Frontend-only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7552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Can be planned</a:t>
            </a:r>
            <a:br/>
            <a:r>
              <a:t>independently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12880" y="738835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3 Next PI flagged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12880" y="755294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Already identified</a:t>
            </a:r>
            <a:br/>
            <a:r>
              <a:t>for next increment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79095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6077"/>
                </a:solidFill>
              </a:defRPr>
            </a:pPr>
            <a:r>
              <a:t>Source: navify.atlassian.net  |  Sprint: nPOCOs/2026-Parking-Lot  |  25 items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79095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06077"/>
                </a:solidFill>
              </a:defRPr>
            </a:pPr>
            <a:r>
              <a:t>Generated April 2026  |  nPOCOs — Point-Of-Care IT POCM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